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79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13" r:id="rId48"/>
    <p:sldId id="302" r:id="rId49"/>
    <p:sldId id="303" r:id="rId50"/>
    <p:sldId id="308" r:id="rId51"/>
    <p:sldId id="309" r:id="rId52"/>
    <p:sldId id="310" r:id="rId53"/>
    <p:sldId id="304" r:id="rId54"/>
    <p:sldId id="311" r:id="rId55"/>
    <p:sldId id="312" r:id="rId56"/>
    <p:sldId id="307" r:id="rId57"/>
    <p:sldId id="305" r:id="rId58"/>
    <p:sldId id="306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6" r:id="rId67"/>
    <p:sldId id="321" r:id="rId68"/>
    <p:sldId id="322" r:id="rId69"/>
    <p:sldId id="323" r:id="rId70"/>
    <p:sldId id="324" r:id="rId71"/>
    <p:sldId id="325" r:id="rId72"/>
    <p:sldId id="327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30T01:08:52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 24575,'40'-1'0,"-13"0"0,0 1 0,36 5 0,-57-4 0,1 0 0,-1 0 0,1 1 0,-1 0 0,1 0 0,-1 1 0,0-1 0,0 1 0,0 1 0,-1-1 0,1 1 0,-1 0 0,0 0 0,7 8 0,-11-10 0,0-1 0,0 0 0,0 0 0,0 1 0,-1-1 0,1 0 0,0 1 0,-1-1 0,0 1 0,1-1 0,-1 0 0,0 1 0,1-1 0,-1 1 0,0-1 0,0 1 0,0-1 0,-1 1 0,1-1 0,0 1 0,0-1 0,-1 1 0,1-1 0,-1 1 0,1-1 0,-1 0 0,0 1 0,0-1 0,1 0 0,-1 1 0,0-1 0,0 0 0,0 0 0,0 0 0,0 0 0,-1 0 0,1 0 0,0 0 0,0-1 0,-1 1 0,-1 1 0,-9 5 0,-1 0 0,0 0 0,-20 7 0,17-8 0,-42 21-25,-68 28-1315,99-46-5486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30T01:09:01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 24575,'-4'1'0,"1"1"0,0-1 0,-1 1 0,1 0 0,0 0 0,0 0 0,0 1 0,0-1 0,1 1 0,-1 0 0,-3 5 0,-9 6 0,0-3 0,-1-1 0,-31 14 0,-16 10 0,62-34 0,0 0 0,1 0 0,-1 1 0,0-1 0,0 0 0,1 1 0,-1-1 0,0 1 0,0-1 0,1 1 0,-1-1 0,1 1 0,-1-1 0,0 1 0,1 0 0,-1-1 0,1 1 0,0 0 0,-1-1 0,1 1 0,-1 0 0,1 0 0,0-1 0,0 1 0,-1 0 0,1 0 0,0-1 0,0 1 0,0 0 0,0 0 0,0 0 0,0 0 0,0-1 0,0 1 0,0 0 0,0 0 0,1 0 0,-1-1 0,0 1 0,0 0 0,1 0 0,-1-1 0,1 1 0,-1 0 0,1 0 0,-1-1 0,1 1 0,-1-1 0,1 1 0,-1 0 0,1-1 0,0 1 0,-1-1 0,1 0 0,0 1 0,-1-1 0,1 1 0,0-1 0,0 0 0,1 1 0,58 18 0,-49-16 0,-3-1-80,0 1 0,-1 1-1,1-1 1,-1 1 0,0 0-1,0 1 1,0 0 0,-1 0-1,0 0 1,0 1 0,0 0 0,-1 0-1,1 1 1,-1-1 0,-1 1-1,7 12 1,-3 1-6746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30T01:09:07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24575,'9'0'0,"7"0"0,5 4 0,3 1 0,2 1 0,1-2 0,-4-1-8191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A310-8B48-74A8-3B3D-5B50C3629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5D9401-49B8-8A64-1464-AA0C14E16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F82C0-CFDD-6278-D1BE-E953E500B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ED1F-D50B-B135-DA26-0E63F0F7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A4DBA-6C96-1077-86A9-ABF708A0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079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5C72-F179-53C5-D45C-212FC0A46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E820-6E07-E6EA-4540-53B3A55C8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15A0CF-AC03-E1F2-1B36-D6EC9BCE2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66324-9DCE-22C7-87BC-0A5FBBB57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D14FD-EA52-35F4-7708-6337509F5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647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681E3-0B39-7057-CFB5-B5D20AA85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8D027-AF51-D696-A30F-E357FCC86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6445E-E0F0-F3E3-47FB-60FE310D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C7953-FE13-CBAE-7945-485B69DC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1A8B8-9E2B-C320-B0A9-1D10201D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137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19E93-D71F-AF2F-D0E8-CB533CF66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3E07-FDC0-FB94-4F84-043B039A6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9AE4E-DBBE-5188-83D0-25A9CA77E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7D3D2-02F9-090B-C660-86552F28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E0B1-ADE6-2E4D-E316-39A8490E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C6366-4809-EA2E-BC40-952908EA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870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EDF4E-52A9-14CA-62AE-8599C8A66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5910C-1358-868C-B646-DC635B9F2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1721-6D51-579F-F99D-A6114FDD5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95095-DDC3-79BC-9EA4-6CF4D0CD9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03359-FB9F-43D5-ED9D-C1D551ABE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3BE36D-BB72-1DCD-7E9E-F1192355A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D4D578-953C-CA62-8C8C-CC0FEC659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CEAAE5-F00B-4028-994A-CAFF019C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188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23BC-60B7-5F46-6A19-3F24D5B55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39CB7-D99D-6178-F537-4D2012AE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AE9F16-DEB3-5F25-81BE-32129D490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D20E6E-9C6C-C251-BC49-5B66133EE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99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385B5-2CD4-67BE-FF86-843E2814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884E4C-B239-CC40-889B-496A3783B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4F1C0C-88C8-CC34-96BE-356D502EB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23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A2CAD-8D14-9915-7E66-E37E53533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28450-A431-35CE-1831-0AC7BC3D60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852C3-0DE4-EC01-DA08-954F3E6E9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DB31D-B2C8-2C0E-D19F-54F190B6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D4117-76C6-B941-6645-D17743CC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DDF380-7659-8821-3170-EAA0388CB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99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27CFF-F09D-F54E-1D2A-D89CB5090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B97A4B-2D92-320A-EB3E-B508DE60B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0B172-B51B-5381-0A83-D738529F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B1C23-8C79-6005-97D4-1E40D9C7A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7B5699-C43A-3C2C-668D-9234BBCEB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FFBFA-1562-D5C7-DFED-533B58B5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01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785A-BCE3-61DB-6A90-CB8F0BB8F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3E354-414D-9CAA-7079-21AA88D40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06005-3AC7-8E59-C67F-F052486CA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93993-41B4-8AD6-9A45-97C44FDB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DE33F-136B-15F6-67C5-3397C836D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128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D82FB5-EBDA-313C-3FC0-ED7652E7E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D406E-EEAF-B426-6712-A29D19EFB0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5C7EA-748C-544C-D4A4-717DD1DD0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B34E3-9DEE-E381-DD71-8C4EDCB5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E4E5B-38BF-13D8-87F6-1B2017AB1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6244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11A32-0CD9-084F-126C-2A66B7622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BD4C6E-080B-7F96-F8F9-53A40D327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31A60-C9FE-E4E7-3901-5E80E80BCB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791897-02C7-429C-9D19-B1A14420DDD9}" type="datetimeFigureOut">
              <a:rPr lang="en-IN" smtClean="0"/>
              <a:t>06-01-2026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6B086-EB23-0E3E-B871-B60BE2C46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FDAA2-755B-4BC1-D1F4-42557D9E5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0E9FF-BBF8-4348-A56D-B93F2C0C02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83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5A9B-DF65-B68A-CFF7-801286B44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CS23403 – FULL STACK TECHNOLOGIES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3B29EA-E8C5-E48D-7646-EA770795B4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UNIT 1 – OVERVIEW OF FULL STACK</a:t>
            </a:r>
          </a:p>
          <a:p>
            <a:r>
              <a:rPr lang="en-IN" dirty="0"/>
              <a:t>B.E. COMPUTER SCIENCE AND ENGINEERING</a:t>
            </a:r>
          </a:p>
          <a:p>
            <a:r>
              <a:rPr lang="en-IN" dirty="0"/>
              <a:t>2023 REGULATION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23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99F8-206F-5390-3CAF-1012AD38E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Full Stack Technologies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37454-70C2-9B6C-DD0F-F32302F1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Full Stack Development refers to  - design, development - deployment of a complete web application</a:t>
            </a:r>
          </a:p>
          <a:p>
            <a:r>
              <a:rPr lang="en-GB" dirty="0"/>
              <a:t>Covers client-side (front-end) and server-side (back-end) components</a:t>
            </a:r>
          </a:p>
          <a:p>
            <a:r>
              <a:rPr lang="en-GB" dirty="0"/>
              <a:t>Includes databases, web services, APIs and deployment mechanisms.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142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A48A-D7F8-FC35-188C-C9BD639A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Web Application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9EF2-C7C6-2C1D-8C37-16534B154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presentation layer (what the user sees),</a:t>
            </a:r>
          </a:p>
          <a:p>
            <a:r>
              <a:rPr lang="en-GB" dirty="0"/>
              <a:t>The application logic layer (how the system behaves),</a:t>
            </a:r>
          </a:p>
          <a:p>
            <a:r>
              <a:rPr lang="en-GB" dirty="0"/>
              <a:t>The data layer (how data is stored and retrieved),</a:t>
            </a:r>
          </a:p>
          <a:p>
            <a:r>
              <a:rPr lang="en-GB" dirty="0"/>
              <a:t>The communication layer (APIs, middleware),</a:t>
            </a:r>
          </a:p>
          <a:p>
            <a:r>
              <a:rPr lang="en-GB" dirty="0"/>
              <a:t>The deployment and security layer.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012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27E2-1960-4640-7E83-7483C0A9E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Syllabus Coverage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5C3FDBE-8480-BF96-0CBD-AA930CB9F7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123507"/>
              </p:ext>
            </p:extLst>
          </p:nvPr>
        </p:nvGraphicFramePr>
        <p:xfrm>
          <a:off x="883459" y="1809098"/>
          <a:ext cx="10425081" cy="4384392"/>
        </p:xfrm>
        <a:graphic>
          <a:graphicData uri="http://schemas.openxmlformats.org/drawingml/2006/table">
            <a:tbl>
              <a:tblPr/>
              <a:tblGrid>
                <a:gridCol w="3475027">
                  <a:extLst>
                    <a:ext uri="{9D8B030D-6E8A-4147-A177-3AD203B41FA5}">
                      <a16:colId xmlns:a16="http://schemas.microsoft.com/office/drawing/2014/main" val="2755763213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1382144215"/>
                    </a:ext>
                  </a:extLst>
                </a:gridCol>
                <a:gridCol w="3475027">
                  <a:extLst>
                    <a:ext uri="{9D8B030D-6E8A-4147-A177-3AD203B41FA5}">
                      <a16:colId xmlns:a16="http://schemas.microsoft.com/office/drawing/2014/main" val="68925044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Application Layer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Units Covered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Technologies Involved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62218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Presentation Layer</a:t>
                      </a:r>
                      <a:endParaRPr lang="en-IN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UNIT I, UNIT III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0"/>
                        <a:t>(Browser, HTML, CSS, JavaScript, Angular, React, TypeScript, JSX)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64881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Application Logic Layer</a:t>
                      </a:r>
                      <a:endParaRPr lang="en-IN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UNIT II, UNIT IV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i="0" dirty="0"/>
                        <a:t>(Node.js, Express.js, Event-driven programming, Callbacks, Controllers, Business Logic)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95882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Data Layer</a:t>
                      </a:r>
                      <a:endParaRPr lang="en-IN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UNIT IV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i="0" dirty="0"/>
                        <a:t>(MongoDB, NoSQL, Collections, Documents, CRUD Operations)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324425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Communication Layer</a:t>
                      </a:r>
                      <a:endParaRPr lang="en-IN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UNIT I, UNIT II, UNIT V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i="0"/>
                        <a:t>(HTTP/HTTPS, REST APIs, JSON, XML, Middleware, Request–Response Model, Microservices)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553850"/>
                  </a:ext>
                </a:extLst>
              </a:tr>
              <a:tr h="9065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Deployment &amp; Security Layer</a:t>
                      </a:r>
                      <a:endParaRPr lang="en-IN" sz="180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UNIT V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i="0" dirty="0"/>
                        <a:t>(Application Deployment, Web Servers, Cloud Platforms, TLS/SSL Certificates, Secure APIs)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749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3777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91295-2271-FA51-00A5-08CE63D02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Web Development Framework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326EC-3072-937D-3ABA-DD5640F1B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6000" dirty="0"/>
              <a:t>How a Web Browser Works?</a:t>
            </a:r>
          </a:p>
        </p:txBody>
      </p:sp>
    </p:spTree>
    <p:extLst>
      <p:ext uri="{BB962C8B-B14F-4D97-AF65-F5344CB8AC3E}">
        <p14:creationId xmlns:p14="http://schemas.microsoft.com/office/powerpoint/2010/main" val="2861616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3F86C-3F77-5151-7DCD-79224E00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Web Development Framework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BB6AD-FE25-B56C-1376-933BC1FBF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</a:t>
            </a:r>
            <a:r>
              <a:rPr lang="en-GB" b="1" dirty="0"/>
              <a:t>Basic Web Development Framework</a:t>
            </a:r>
            <a:r>
              <a:rPr lang="en-GB" dirty="0"/>
              <a:t> explains </a:t>
            </a:r>
          </a:p>
          <a:p>
            <a:pPr marL="514350" indent="-514350">
              <a:buAutoNum type="arabicParenR"/>
            </a:pPr>
            <a:r>
              <a:rPr lang="en-GB" dirty="0"/>
              <a:t>How the web application is created, executed, and delivered to the user through a </a:t>
            </a:r>
            <a:r>
              <a:rPr lang="en-GB" b="1" dirty="0"/>
              <a:t>client–server architecture</a:t>
            </a:r>
            <a:r>
              <a:rPr lang="en-GB" dirty="0"/>
              <a:t>. </a:t>
            </a:r>
          </a:p>
          <a:p>
            <a:pPr marL="514350" indent="-514350">
              <a:buAutoNum type="arabicParenR"/>
            </a:pPr>
            <a:r>
              <a:rPr lang="en-GB" dirty="0"/>
              <a:t>It defines the interaction between the </a:t>
            </a:r>
            <a:r>
              <a:rPr lang="en-GB" b="1" dirty="0"/>
              <a:t>browser</a:t>
            </a:r>
            <a:r>
              <a:rPr lang="en-GB" dirty="0"/>
              <a:t>, </a:t>
            </a:r>
            <a:r>
              <a:rPr lang="en-GB" b="1" dirty="0"/>
              <a:t>front-end technologies</a:t>
            </a:r>
            <a:r>
              <a:rPr lang="en-GB" dirty="0"/>
              <a:t>, </a:t>
            </a:r>
            <a:r>
              <a:rPr lang="en-GB" b="1" dirty="0"/>
              <a:t>back-end services</a:t>
            </a:r>
            <a:r>
              <a:rPr lang="en-GB" dirty="0"/>
              <a:t> and </a:t>
            </a:r>
            <a:r>
              <a:rPr lang="en-GB" b="1" dirty="0"/>
              <a:t>data exchange mechanisms</a:t>
            </a:r>
            <a:r>
              <a:rPr lang="en-GB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0204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AF8FB-BD72-1DD4-21B3-2093F23B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Web Development Framework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B525A-9296-43A9-9305-A3DCD40D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 Request: You type a URL (web address) or click a link, and the browser sends a request to a web server.</a:t>
            </a:r>
          </a:p>
          <a:p>
            <a:r>
              <a:rPr lang="en-GB" dirty="0"/>
              <a:t>Fetch: The server sends back files (HTML, CSS, images, Java Scripts).</a:t>
            </a:r>
          </a:p>
          <a:p>
            <a:r>
              <a:rPr lang="en-GB" dirty="0"/>
              <a:t>Render: The browser's rendering engine </a:t>
            </a:r>
            <a:r>
              <a:rPr lang="en-GB" b="1" dirty="0"/>
              <a:t>interprets</a:t>
            </a:r>
            <a:r>
              <a:rPr lang="en-GB" dirty="0"/>
              <a:t> these files and </a:t>
            </a:r>
            <a:r>
              <a:rPr lang="en-GB" b="1" dirty="0"/>
              <a:t>displays</a:t>
            </a:r>
            <a:r>
              <a:rPr lang="en-GB" dirty="0"/>
              <a:t> them as a readable webpage on your device.</a:t>
            </a:r>
          </a:p>
          <a:p>
            <a:r>
              <a:rPr lang="en-GB" dirty="0"/>
              <a:t>Interprets HTML for structure,</a:t>
            </a:r>
          </a:p>
          <a:p>
            <a:r>
              <a:rPr lang="en-GB" dirty="0"/>
              <a:t>Applies CSS for styling,</a:t>
            </a:r>
          </a:p>
          <a:p>
            <a:r>
              <a:rPr lang="en-GB" dirty="0"/>
              <a:t>Executes JavaScript for logic and interaction.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58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ED33-4E42-9172-D2C2-B001E115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 Text Markup Language (HTML)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02582-3C36-AB3E-071C-35073C31E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HTML is a markup language</a:t>
            </a:r>
          </a:p>
          <a:p>
            <a:r>
              <a:rPr lang="en-GB" dirty="0"/>
              <a:t>A markup language</a:t>
            </a:r>
          </a:p>
          <a:p>
            <a:pPr marL="514350" indent="-514350">
              <a:buAutoNum type="arabicParenR"/>
            </a:pPr>
            <a:r>
              <a:rPr lang="en-GB" dirty="0"/>
              <a:t>Uses Tags (markups) to define, describe the structure content so that a computer program (like a browser) displays the contents</a:t>
            </a:r>
            <a:endParaRPr lang="en-IN" dirty="0"/>
          </a:p>
          <a:p>
            <a:pPr marL="514350" indent="-514350">
              <a:buAutoNum type="arabicParenR"/>
            </a:pPr>
            <a:r>
              <a:rPr lang="en-GB" dirty="0"/>
              <a:t>HTML is case-insensitive</a:t>
            </a:r>
          </a:p>
          <a:p>
            <a:pPr marL="514350" indent="-514350">
              <a:buAutoNum type="arabicParenR"/>
            </a:pPr>
            <a:r>
              <a:rPr lang="en-GB" dirty="0"/>
              <a:t>Tags usually come in pairs</a:t>
            </a:r>
          </a:p>
          <a:p>
            <a:pPr marL="514350" indent="-514350">
              <a:buAutoNum type="arabicParenR"/>
            </a:pPr>
            <a:r>
              <a:rPr lang="en-GB" dirty="0"/>
              <a:t>HTML describes structure, not behaviour</a:t>
            </a:r>
          </a:p>
          <a:p>
            <a:pPr marL="514350" indent="-514350">
              <a:buAutoNum type="arabicParenR"/>
            </a:pPr>
            <a:r>
              <a:rPr lang="en-GB" dirty="0"/>
              <a:t>Works together with CSS and JavaScript</a:t>
            </a:r>
          </a:p>
        </p:txBody>
      </p:sp>
    </p:spTree>
    <p:extLst>
      <p:ext uri="{BB962C8B-B14F-4D97-AF65-F5344CB8AC3E}">
        <p14:creationId xmlns:p14="http://schemas.microsoft.com/office/powerpoint/2010/main" val="3744489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67CCA-AAF1-6CD6-94E2-6D37E240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 Text Markup Language (HTML)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5A48-E6E6-BADE-B427-E6818AED6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GB" sz="4800" dirty="0"/>
          </a:p>
          <a:p>
            <a:pPr marL="0" indent="0" algn="ctr">
              <a:buNone/>
            </a:pPr>
            <a:endParaRPr lang="en-GB" sz="4800" dirty="0"/>
          </a:p>
          <a:p>
            <a:pPr marL="0" indent="0" algn="ctr">
              <a:buNone/>
            </a:pPr>
            <a:r>
              <a:rPr lang="en-GB" sz="4800" dirty="0"/>
              <a:t>Why HTML is Important?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2304330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E382-1344-A520-5B28-AEACD934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Hyper Text Markup Language (HTML)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B41BF-FB82-9DD6-6D98-6656206CC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Every website starts with HTML</a:t>
            </a:r>
          </a:p>
          <a:p>
            <a:r>
              <a:rPr lang="en-GB" dirty="0"/>
              <a:t>It is the foundation of web development</a:t>
            </a:r>
          </a:p>
          <a:p>
            <a:r>
              <a:rPr lang="en-GB" dirty="0"/>
              <a:t>Browsers understand HTML directly</a:t>
            </a:r>
          </a:p>
          <a:p>
            <a:r>
              <a:rPr lang="en-GB" dirty="0"/>
              <a:t>Used with CSS and JavaScript to build complete websites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738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CC50E-135C-98DB-F53C-3F2481A9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–Basic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1DAD-0B65-B54C-4817-F2E49CEFB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&lt;html&gt; - Root Element</a:t>
            </a:r>
          </a:p>
          <a:p>
            <a:pPr marL="0" indent="0">
              <a:buNone/>
            </a:pPr>
            <a:r>
              <a:rPr lang="en-GB" dirty="0"/>
              <a:t>&lt;head&gt; - Meta Information</a:t>
            </a:r>
          </a:p>
          <a:p>
            <a:pPr marL="0" indent="0">
              <a:buNone/>
            </a:pPr>
            <a:r>
              <a:rPr lang="en-GB" dirty="0"/>
              <a:t>    &lt;title&gt;My First Page&lt;/title&gt; - Page Title</a:t>
            </a:r>
          </a:p>
          <a:p>
            <a:pPr marL="0" indent="0">
              <a:buNone/>
            </a:pPr>
            <a:r>
              <a:rPr lang="en-GB" dirty="0"/>
              <a:t>&lt;/head&gt;</a:t>
            </a:r>
          </a:p>
          <a:p>
            <a:pPr marL="0" indent="0">
              <a:buNone/>
            </a:pPr>
            <a:r>
              <a:rPr lang="en-GB" dirty="0"/>
              <a:t>&lt;body&gt; - Visible Content</a:t>
            </a:r>
          </a:p>
          <a:p>
            <a:pPr marL="0" indent="0">
              <a:buNone/>
            </a:pPr>
            <a:r>
              <a:rPr lang="en-GB" dirty="0"/>
              <a:t>    &lt;h1&gt;Hello World&lt;/h1&gt;</a:t>
            </a:r>
          </a:p>
          <a:p>
            <a:pPr marL="0" indent="0">
              <a:buNone/>
            </a:pPr>
            <a:r>
              <a:rPr lang="en-GB" dirty="0"/>
              <a:t>    &lt;p&gt;This is my first HTML page.&lt;/p&gt;</a:t>
            </a:r>
          </a:p>
          <a:p>
            <a:pPr marL="0" indent="0">
              <a:buNone/>
            </a:pPr>
            <a:r>
              <a:rPr lang="en-GB" dirty="0"/>
              <a:t>&lt;/body&gt;</a:t>
            </a:r>
          </a:p>
          <a:p>
            <a:pPr marL="0" indent="0">
              <a:buNone/>
            </a:pPr>
            <a:r>
              <a:rPr lang="en-GB" dirty="0"/>
              <a:t>&lt;/html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128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C9DE-DC7E-3B7C-87A2-D76ADBC9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– Text Formatting Tags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8C43C34-1ED4-CA2F-A366-DD3BFD43D4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5550064"/>
              </p:ext>
            </p:extLst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604543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938674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32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&lt;h1&gt;</a:t>
                      </a:r>
                      <a:r>
                        <a:rPr lang="en-IN" dirty="0"/>
                        <a:t> to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&lt;h6&gt;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Headings (h1 is largest)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14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&lt;p&gt;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Paragraph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951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&lt;br&gt;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Line break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1906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&lt;hr&gt;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Horizontal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908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&lt;strong&gt;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Important text (bold)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01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&lt;em&gt;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Emphasized text (italic)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3030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489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7A6DC-E334-23C6-9F06-9055CC1B0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– Links and Image Tags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76C5FC-FA98-FCD1-1264-7E38A9980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755915"/>
              </p:ext>
            </p:extLst>
          </p:nvPr>
        </p:nvGraphicFramePr>
        <p:xfrm>
          <a:off x="838200" y="2242143"/>
          <a:ext cx="10515600" cy="10972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4707635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328430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336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&lt;a&gt;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Creates a hyperlink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588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img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Displays an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330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A5B321-C9B0-5094-2EBE-A31CEDD756D8}"/>
              </a:ext>
            </a:extLst>
          </p:cNvPr>
          <p:cNvSpPr txBox="1"/>
          <p:nvPr/>
        </p:nvSpPr>
        <p:spPr>
          <a:xfrm>
            <a:off x="761238" y="3890878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&lt;a </a:t>
            </a:r>
            <a:r>
              <a:rPr lang="en-IN" dirty="0" err="1"/>
              <a:t>href</a:t>
            </a:r>
            <a:r>
              <a:rPr lang="en-IN" dirty="0"/>
              <a:t>="https://www.google.com"&gt;Visit Google&lt;/a&gt;</a:t>
            </a:r>
          </a:p>
          <a:p>
            <a:endParaRPr lang="en-IN" dirty="0"/>
          </a:p>
          <a:p>
            <a:r>
              <a:rPr lang="en-IN" dirty="0"/>
              <a:t>&lt;</a:t>
            </a:r>
            <a:r>
              <a:rPr lang="en-IN" dirty="0" err="1"/>
              <a:t>img</a:t>
            </a:r>
            <a:r>
              <a:rPr lang="en-IN" dirty="0"/>
              <a:t> </a:t>
            </a:r>
            <a:r>
              <a:rPr lang="en-IN" dirty="0" err="1"/>
              <a:t>src</a:t>
            </a:r>
            <a:r>
              <a:rPr lang="en-IN" dirty="0"/>
              <a:t>="image.jpg" alt="My Image"&gt;</a:t>
            </a:r>
          </a:p>
        </p:txBody>
      </p:sp>
    </p:spTree>
    <p:extLst>
      <p:ext uri="{BB962C8B-B14F-4D97-AF65-F5344CB8AC3E}">
        <p14:creationId xmlns:p14="http://schemas.microsoft.com/office/powerpoint/2010/main" val="57267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68A92-4D09-B3BB-C13C-7784A12B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 - List Tags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CA2261-1CC2-4624-6027-B8C109C38F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1870900"/>
              </p:ext>
            </p:extLst>
          </p:nvPr>
        </p:nvGraphicFramePr>
        <p:xfrm>
          <a:off x="902208" y="1965960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68763227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65027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591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&lt;ul&gt;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Unordered list (bullets)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6547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&lt;ol&gt;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Ordered list (numbers)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052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&lt;li&gt;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List 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309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3975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6638-545E-9429-3704-53B4CCD6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– Table Tags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0F66A4-EFB2-3B4D-2569-A6C9D2F75A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7593056"/>
              </p:ext>
            </p:extLst>
          </p:nvPr>
        </p:nvGraphicFramePr>
        <p:xfrm>
          <a:off x="838200" y="1962182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573524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32357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4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&lt;table&gt;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Creates a 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07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&lt;tr&gt;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 row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1008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th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Table heading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1767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&lt;td&gt;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Table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29332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30D3247-213C-7FF0-F828-A48B0470E32B}"/>
              </a:ext>
            </a:extLst>
          </p:cNvPr>
          <p:cNvSpPr txBox="1"/>
          <p:nvPr/>
        </p:nvSpPr>
        <p:spPr>
          <a:xfrm>
            <a:off x="770382" y="3927223"/>
            <a:ext cx="609447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&lt;table border="1"&gt;</a:t>
            </a:r>
          </a:p>
          <a:p>
            <a:r>
              <a:rPr lang="en-IN" dirty="0"/>
              <a:t>  &lt;tr&gt;</a:t>
            </a:r>
          </a:p>
          <a:p>
            <a:r>
              <a:rPr lang="en-IN" dirty="0"/>
              <a:t>    &lt;</a:t>
            </a:r>
            <a:r>
              <a:rPr lang="en-IN" dirty="0" err="1"/>
              <a:t>th</a:t>
            </a:r>
            <a:r>
              <a:rPr lang="en-IN" dirty="0"/>
              <a:t>&gt;Name&lt;/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  &lt;</a:t>
            </a:r>
            <a:r>
              <a:rPr lang="en-IN" dirty="0" err="1"/>
              <a:t>th</a:t>
            </a:r>
            <a:r>
              <a:rPr lang="en-IN" dirty="0"/>
              <a:t>&gt;Age&lt;/</a:t>
            </a:r>
            <a:r>
              <a:rPr lang="en-IN" dirty="0" err="1"/>
              <a:t>th</a:t>
            </a:r>
            <a:r>
              <a:rPr lang="en-IN" dirty="0"/>
              <a:t>&gt;</a:t>
            </a:r>
          </a:p>
          <a:p>
            <a:r>
              <a:rPr lang="en-IN" dirty="0"/>
              <a:t>  &lt;/tr&gt;</a:t>
            </a:r>
          </a:p>
          <a:p>
            <a:r>
              <a:rPr lang="en-IN" dirty="0"/>
              <a:t>  &lt;tr&gt;</a:t>
            </a:r>
          </a:p>
          <a:p>
            <a:r>
              <a:rPr lang="en-IN" dirty="0"/>
              <a:t>    &lt;td&gt;Anu&lt;/td&gt;</a:t>
            </a:r>
          </a:p>
          <a:p>
            <a:r>
              <a:rPr lang="en-IN" dirty="0"/>
              <a:t>    &lt;td&gt;20&lt;/td&gt;</a:t>
            </a:r>
          </a:p>
          <a:p>
            <a:r>
              <a:rPr lang="en-IN" dirty="0"/>
              <a:t>  &lt;/tr&gt;</a:t>
            </a:r>
          </a:p>
          <a:p>
            <a:r>
              <a:rPr lang="en-IN" dirty="0"/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29009707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17DE-C8D2-2FBA-8BBD-F58DA33E4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– Form tags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872F40-169E-C59D-04DE-199064D4EF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8396296"/>
              </p:ext>
            </p:extLst>
          </p:nvPr>
        </p:nvGraphicFramePr>
        <p:xfrm>
          <a:off x="838200" y="1834166"/>
          <a:ext cx="10515600" cy="2560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7688388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407881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798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&lt;form&gt;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Collects user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750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&lt;input&gt;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Input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9602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&lt;label&gt;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Label for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876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&lt;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textarea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&gt;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Multi-line 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230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&lt;button&gt;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Clickable button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7311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&lt;select&gt;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Dropdown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863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7275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D0627-D4B6-586F-5D50-AF5C24766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 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9E097-FAA3-BC97-8896-7580D2146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Attributes give extra information to tags.</a:t>
            </a:r>
          </a:p>
          <a:p>
            <a:r>
              <a:rPr lang="en-IN" dirty="0"/>
              <a:t>Common Attributes:</a:t>
            </a:r>
          </a:p>
          <a:p>
            <a:pPr marL="0" indent="0">
              <a:buNone/>
            </a:pPr>
            <a:r>
              <a:rPr lang="en-IN" dirty="0"/>
              <a:t>class → Used for styling</a:t>
            </a:r>
          </a:p>
          <a:p>
            <a:pPr marL="0" indent="0">
              <a:buNone/>
            </a:pPr>
            <a:r>
              <a:rPr lang="en-IN" dirty="0" err="1"/>
              <a:t>src</a:t>
            </a:r>
            <a:r>
              <a:rPr lang="en-IN" dirty="0"/>
              <a:t> → Source of image</a:t>
            </a:r>
          </a:p>
          <a:p>
            <a:pPr marL="0" indent="0">
              <a:buNone/>
            </a:pPr>
            <a:r>
              <a:rPr lang="en-IN" dirty="0" err="1"/>
              <a:t>href</a:t>
            </a:r>
            <a:r>
              <a:rPr lang="en-IN" dirty="0"/>
              <a:t> → Link URL</a:t>
            </a:r>
          </a:p>
          <a:p>
            <a:pPr marL="0" indent="0">
              <a:buNone/>
            </a:pPr>
            <a:r>
              <a:rPr lang="en-IN" dirty="0"/>
              <a:t>alt → Alternate text for image</a:t>
            </a:r>
          </a:p>
          <a:p>
            <a:pPr marL="0" indent="0">
              <a:buNone/>
            </a:pPr>
            <a:r>
              <a:rPr lang="en-IN" dirty="0"/>
              <a:t>HTML COMMENT</a:t>
            </a:r>
          </a:p>
          <a:p>
            <a:pPr marL="0" indent="0">
              <a:buNone/>
            </a:pPr>
            <a:r>
              <a:rPr lang="en-IN" dirty="0"/>
              <a:t>&lt;!-- This is a comment --&gt;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277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A0D9-ECFC-3C8F-B4A6-E13EE71A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Cascading Style Sheets -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6DE32-66AB-B016-13D2-D1F3D23EB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CSS (Cascading Style Sheets) is used to style and design HTML web pages.</a:t>
            </a:r>
          </a:p>
          <a:p>
            <a:r>
              <a:rPr lang="en-GB" dirty="0"/>
              <a:t>Controls how HTML elements look</a:t>
            </a:r>
          </a:p>
          <a:p>
            <a:r>
              <a:rPr lang="en-GB" dirty="0"/>
              <a:t>Defines colours, fonts, spacing, layout</a:t>
            </a:r>
          </a:p>
          <a:p>
            <a:r>
              <a:rPr lang="en-GB" dirty="0"/>
              <a:t>Separates content (HTML) from design (CSS)</a:t>
            </a:r>
          </a:p>
          <a:p>
            <a:r>
              <a:rPr lang="en-GB" dirty="0"/>
              <a:t>Makes webpages attractive and allows reusability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2181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A9CA7-CBCB-0690-42C0-2B09C47B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Declaration : Selector and Rules of CSS</a:t>
            </a:r>
          </a:p>
        </p:txBody>
      </p:sp>
      <p:pic>
        <p:nvPicPr>
          <p:cNvPr id="5" name="Content Placeholder 4" descr="A diagram of a property declaration&#10;&#10;AI-generated content may be incorrect.">
            <a:extLst>
              <a:ext uri="{FF2B5EF4-FFF2-40B4-BE49-F238E27FC236}">
                <a16:creationId xmlns:a16="http://schemas.microsoft.com/office/drawing/2014/main" id="{588E451E-78D7-2F7C-853C-F019845B77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2080" y="2342008"/>
            <a:ext cx="5658640" cy="3172268"/>
          </a:xfrm>
          <a:prstGeom prst="rect">
            <a:avLst/>
          </a:prstGeom>
        </p:spPr>
      </p:pic>
      <p:pic>
        <p:nvPicPr>
          <p:cNvPr id="7" name="Picture 6" descr="A close-up of a text&#10;&#10;AI-generated content may be incorrect.">
            <a:extLst>
              <a:ext uri="{FF2B5EF4-FFF2-40B4-BE49-F238E27FC236}">
                <a16:creationId xmlns:a16="http://schemas.microsoft.com/office/drawing/2014/main" id="{5845BA01-5F8D-38C2-8350-F8DCA274A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720" y="2538431"/>
            <a:ext cx="4124901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135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ED38-211F-156D-0A46-3B85464E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apply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D2A99-6302-F16D-A4E7-1C2E809CA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1) Inline CSS</a:t>
            </a:r>
          </a:p>
          <a:p>
            <a:pPr marL="0" indent="0">
              <a:buNone/>
            </a:pPr>
            <a:r>
              <a:rPr lang="en-IN" dirty="0"/>
              <a:t>Applied directly inside HTML tags </a:t>
            </a:r>
          </a:p>
          <a:p>
            <a:pPr marL="0" indent="0">
              <a:buNone/>
            </a:pPr>
            <a:r>
              <a:rPr lang="en-IN" dirty="0"/>
              <a:t>&lt;p style="</a:t>
            </a:r>
            <a:r>
              <a:rPr lang="en-IN" dirty="0" err="1"/>
              <a:t>color:red</a:t>
            </a:r>
            <a:r>
              <a:rPr lang="en-IN" dirty="0"/>
              <a:t>;"&gt;Hello&lt;/p&gt;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75932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33F38-C0D2-F01B-2AE9-4F019055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apply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8D8AD-C638-C7BC-8716-F4678DED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2) Internal CSS</a:t>
            </a:r>
          </a:p>
          <a:p>
            <a:pPr marL="0" indent="0">
              <a:buNone/>
            </a:pPr>
            <a:r>
              <a:rPr lang="en-IN" dirty="0"/>
              <a:t>Written inside &lt;style&gt; tag in &lt;head&gt;</a:t>
            </a:r>
          </a:p>
          <a:p>
            <a:pPr marL="0" indent="0">
              <a:buNone/>
            </a:pPr>
            <a:r>
              <a:rPr lang="en-GB" dirty="0"/>
              <a:t>&lt;style&gt;</a:t>
            </a:r>
          </a:p>
          <a:p>
            <a:pPr marL="0" indent="0">
              <a:buNone/>
            </a:pPr>
            <a:r>
              <a:rPr lang="en-GB" dirty="0"/>
              <a:t>  h1 { </a:t>
            </a:r>
            <a:r>
              <a:rPr lang="en-GB" dirty="0" err="1"/>
              <a:t>color</a:t>
            </a:r>
            <a:r>
              <a:rPr lang="en-GB" dirty="0"/>
              <a:t>: green; }</a:t>
            </a:r>
          </a:p>
          <a:p>
            <a:pPr marL="0" indent="0">
              <a:buNone/>
            </a:pPr>
            <a:r>
              <a:rPr lang="en-GB" dirty="0"/>
              <a:t>&lt;/style&gt;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42431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0D132-4DF9-1A87-866C-92FC3496A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Ways to apply 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48C6D-DD22-0991-EE79-6F2E4AC50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3) External CSS</a:t>
            </a:r>
          </a:p>
          <a:p>
            <a:pPr marL="0" indent="0">
              <a:buNone/>
            </a:pPr>
            <a:r>
              <a:rPr lang="en-GB" dirty="0"/>
              <a:t>Written in a separate .</a:t>
            </a:r>
            <a:r>
              <a:rPr lang="en-GB" dirty="0" err="1"/>
              <a:t>css</a:t>
            </a:r>
            <a:r>
              <a:rPr lang="en-GB" dirty="0"/>
              <a:t> file.</a:t>
            </a:r>
          </a:p>
          <a:p>
            <a:pPr marL="0" indent="0">
              <a:buNone/>
            </a:pPr>
            <a:r>
              <a:rPr lang="en-IN" b="1" dirty="0"/>
              <a:t>&lt;link </a:t>
            </a:r>
            <a:r>
              <a:rPr lang="en-IN" b="1" dirty="0" err="1"/>
              <a:t>rel</a:t>
            </a:r>
            <a:r>
              <a:rPr lang="en-IN" b="1" dirty="0"/>
              <a:t>="stylesheet" </a:t>
            </a:r>
            <a:r>
              <a:rPr lang="en-IN" b="1" dirty="0" err="1"/>
              <a:t>href</a:t>
            </a:r>
            <a:r>
              <a:rPr lang="en-IN" b="1" dirty="0"/>
              <a:t>="style.css"&gt; - </a:t>
            </a:r>
            <a:r>
              <a:rPr lang="en-IN" dirty="0"/>
              <a:t>link tag is used to establish an external connection</a:t>
            </a: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9663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66432-7824-6CD9-3303-9FEF4D063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Selectors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042634-A835-00EB-E2F2-1EE9AC260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130878"/>
              </p:ext>
            </p:extLst>
          </p:nvPr>
        </p:nvGraphicFramePr>
        <p:xfrm>
          <a:off x="765048" y="2273078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360319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567693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60152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Selector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67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paragraphs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39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.box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Elements with 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0227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#main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Unique elements of the 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146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h1, p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Multiple elements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4279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D25FA3D-D712-7AA6-C6E1-55991508EB9F}"/>
              </a:ext>
            </a:extLst>
          </p:cNvPr>
          <p:cNvSpPr txBox="1"/>
          <p:nvPr/>
        </p:nvSpPr>
        <p:spPr>
          <a:xfrm>
            <a:off x="765048" y="4832711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#main {</a:t>
            </a:r>
          </a:p>
          <a:p>
            <a:r>
              <a:rPr lang="en-IN" dirty="0"/>
              <a:t>  background-</a:t>
            </a:r>
            <a:r>
              <a:rPr lang="en-IN" dirty="0" err="1"/>
              <a:t>color</a:t>
            </a:r>
            <a:r>
              <a:rPr lang="en-IN" dirty="0"/>
              <a:t>: </a:t>
            </a:r>
            <a:r>
              <a:rPr lang="en-IN" dirty="0" err="1"/>
              <a:t>lightblue</a:t>
            </a:r>
            <a:r>
              <a:rPr lang="en-IN" dirty="0"/>
              <a:t>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047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0E21-4931-8F4F-CAA1-182F0797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– Text and Font &amp;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8DA48-5F06-2F12-74E1-05F55C9DE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color</a:t>
            </a:r>
            <a:endParaRPr lang="en-IN" dirty="0"/>
          </a:p>
          <a:p>
            <a:r>
              <a:rPr lang="en-IN" dirty="0"/>
              <a:t>font-size</a:t>
            </a:r>
          </a:p>
          <a:p>
            <a:r>
              <a:rPr lang="en-IN" dirty="0"/>
              <a:t>font-family</a:t>
            </a:r>
          </a:p>
          <a:p>
            <a:r>
              <a:rPr lang="en-IN" dirty="0"/>
              <a:t>text-align</a:t>
            </a:r>
          </a:p>
          <a:p>
            <a:r>
              <a:rPr lang="en-IN" dirty="0"/>
              <a:t>background-</a:t>
            </a:r>
            <a:r>
              <a:rPr lang="en-IN" dirty="0" err="1"/>
              <a:t>color</a:t>
            </a:r>
            <a:endParaRPr lang="en-IN" dirty="0"/>
          </a:p>
          <a:p>
            <a:r>
              <a:rPr lang="en-IN" dirty="0"/>
              <a:t>background-image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41518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EE237-1514-BE1B-F947-0D054B57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Box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A2C44-E42F-3F3C-22D9-54F778405C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Every HTML element is treated as a box.</a:t>
            </a:r>
          </a:p>
          <a:p>
            <a:r>
              <a:rPr lang="en-GB" b="1" dirty="0"/>
              <a:t>Content</a:t>
            </a:r>
            <a:r>
              <a:rPr lang="en-GB" dirty="0"/>
              <a:t> – actual text/image</a:t>
            </a:r>
          </a:p>
          <a:p>
            <a:r>
              <a:rPr lang="en-GB" b="1" dirty="0"/>
              <a:t>Padding</a:t>
            </a:r>
            <a:r>
              <a:rPr lang="en-GB" dirty="0"/>
              <a:t> – space inside border</a:t>
            </a:r>
          </a:p>
          <a:p>
            <a:r>
              <a:rPr lang="en-GB" b="1" dirty="0"/>
              <a:t>Border</a:t>
            </a:r>
            <a:r>
              <a:rPr lang="en-GB" dirty="0"/>
              <a:t> – outline</a:t>
            </a:r>
          </a:p>
          <a:p>
            <a:r>
              <a:rPr lang="en-GB" b="1" dirty="0"/>
              <a:t>Margin</a:t>
            </a:r>
            <a:r>
              <a:rPr lang="en-GB" dirty="0"/>
              <a:t> – space outside element</a:t>
            </a:r>
          </a:p>
          <a:p>
            <a:pPr marL="0" indent="0">
              <a:buNone/>
            </a:pPr>
            <a:r>
              <a:rPr lang="en-GB" dirty="0"/>
              <a:t>div {</a:t>
            </a:r>
          </a:p>
          <a:p>
            <a:pPr marL="0" indent="0">
              <a:buNone/>
            </a:pPr>
            <a:r>
              <a:rPr lang="en-GB" dirty="0"/>
              <a:t>  margin: 10px;</a:t>
            </a:r>
          </a:p>
          <a:p>
            <a:pPr marL="0" indent="0">
              <a:buNone/>
            </a:pPr>
            <a:r>
              <a:rPr lang="en-GB" dirty="0"/>
              <a:t>  padding: 20px;</a:t>
            </a:r>
          </a:p>
          <a:p>
            <a:pPr marL="0" indent="0">
              <a:buNone/>
            </a:pPr>
            <a:r>
              <a:rPr lang="en-GB" dirty="0"/>
              <a:t>  border: 1px solid black;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43958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82CE-5F7C-9ABF-1CC2-E6E28605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31F0-8FAF-2B75-0458-D8ECB6892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GB" dirty="0"/>
              <a:t>&lt;!-- Single class --&gt;</a:t>
            </a:r>
          </a:p>
          <a:p>
            <a:pPr marL="0" indent="0">
              <a:buNone/>
            </a:pPr>
            <a:r>
              <a:rPr lang="en-GB" dirty="0"/>
              <a:t>&lt;p class="intro"&gt;This is an introductory paragraph.&lt;/p&gt;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&lt;!-- Multiple elements with the same class --&gt;</a:t>
            </a:r>
          </a:p>
          <a:p>
            <a:pPr marL="0" indent="0">
              <a:buNone/>
            </a:pPr>
            <a:r>
              <a:rPr lang="en-GB" dirty="0"/>
              <a:t>&lt;div class="card"&gt;</a:t>
            </a:r>
          </a:p>
          <a:p>
            <a:pPr marL="0" indent="0">
              <a:buNone/>
            </a:pPr>
            <a:r>
              <a:rPr lang="en-GB" dirty="0"/>
              <a:t>  &lt;h2&gt;Card Title&lt;/h2&gt;</a:t>
            </a:r>
          </a:p>
          <a:p>
            <a:pPr marL="0" indent="0">
              <a:buNone/>
            </a:pPr>
            <a:r>
              <a:rPr lang="en-GB" dirty="0"/>
              <a:t>  &lt;p&gt;Card content.&lt;/p&gt;</a:t>
            </a:r>
          </a:p>
          <a:p>
            <a:pPr marL="0" indent="0">
              <a:buNone/>
            </a:pPr>
            <a:r>
              <a:rPr lang="en-GB" dirty="0"/>
              <a:t>&lt;/div&gt;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&lt;div class="card"&gt;</a:t>
            </a:r>
          </a:p>
          <a:p>
            <a:pPr marL="0" indent="0">
              <a:buNone/>
            </a:pPr>
            <a:r>
              <a:rPr lang="en-GB" dirty="0"/>
              <a:t>  &lt;h2&gt;Another Card Title&lt;/h2&gt;</a:t>
            </a:r>
          </a:p>
          <a:p>
            <a:pPr marL="0" indent="0">
              <a:buNone/>
            </a:pPr>
            <a:r>
              <a:rPr lang="en-GB" dirty="0"/>
              <a:t>  &lt;p&gt;More card content.&lt;/p&gt;</a:t>
            </a:r>
          </a:p>
          <a:p>
            <a:pPr marL="0" indent="0">
              <a:buNone/>
            </a:pPr>
            <a:r>
              <a:rPr lang="en-GB" dirty="0"/>
              <a:t>&lt;/div&gt;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&lt;!-- Element with multiple classes --&gt;</a:t>
            </a:r>
          </a:p>
          <a:p>
            <a:pPr marL="0" indent="0">
              <a:buNone/>
            </a:pPr>
            <a:r>
              <a:rPr lang="en-GB" dirty="0"/>
              <a:t>&lt;button class="button button-primary"&gt;Click Me&lt;/button&gt;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510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EC57B-2389-D66B-48BD-12160EA7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in CSS – Same style to various HTML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CE08F-570F-E357-290A-FA65896FB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400" dirty="0"/>
              <a:t>/* Select all elements with the class 'intro' */</a:t>
            </a:r>
          </a:p>
          <a:p>
            <a:pPr marL="0" indent="0">
              <a:buNone/>
            </a:pPr>
            <a:r>
              <a:rPr lang="en-IN" sz="6400" dirty="0"/>
              <a:t>.intro {</a:t>
            </a:r>
          </a:p>
          <a:p>
            <a:pPr marL="0" indent="0">
              <a:buNone/>
            </a:pPr>
            <a:r>
              <a:rPr lang="en-IN" sz="6400" dirty="0"/>
              <a:t>  </a:t>
            </a:r>
            <a:r>
              <a:rPr lang="en-IN" sz="6400" dirty="0" err="1"/>
              <a:t>color</a:t>
            </a:r>
            <a:r>
              <a:rPr lang="en-IN" sz="6400" dirty="0"/>
              <a:t>: blue;</a:t>
            </a:r>
          </a:p>
          <a:p>
            <a:pPr marL="0" indent="0">
              <a:buNone/>
            </a:pPr>
            <a:r>
              <a:rPr lang="en-IN" sz="6400" dirty="0"/>
              <a:t>  font-size: 1.2em;</a:t>
            </a:r>
          </a:p>
          <a:p>
            <a:pPr marL="0" indent="0">
              <a:buNone/>
            </a:pPr>
            <a:r>
              <a:rPr lang="en-IN" sz="6400" dirty="0"/>
              <a:t>}</a:t>
            </a:r>
          </a:p>
          <a:p>
            <a:pPr marL="0" indent="0">
              <a:buNone/>
            </a:pPr>
            <a:r>
              <a:rPr lang="en-IN" sz="6400" dirty="0"/>
              <a:t>/* Select all elements with the class 'card' */</a:t>
            </a:r>
          </a:p>
          <a:p>
            <a:pPr marL="0" indent="0">
              <a:buNone/>
            </a:pPr>
            <a:r>
              <a:rPr lang="en-IN" sz="6400" dirty="0"/>
              <a:t>.card {</a:t>
            </a:r>
          </a:p>
          <a:p>
            <a:pPr marL="0" indent="0">
              <a:buNone/>
            </a:pPr>
            <a:r>
              <a:rPr lang="en-IN" sz="6400" dirty="0"/>
              <a:t>  border: 1px solid #ccc;</a:t>
            </a:r>
          </a:p>
          <a:p>
            <a:pPr marL="0" indent="0">
              <a:buNone/>
            </a:pPr>
            <a:r>
              <a:rPr lang="en-IN" sz="6400" dirty="0"/>
              <a:t>  padding: 15px;</a:t>
            </a:r>
          </a:p>
          <a:p>
            <a:pPr marL="0" indent="0">
              <a:buNone/>
            </a:pPr>
            <a:r>
              <a:rPr lang="en-IN" sz="6400" dirty="0"/>
              <a:t>  margin-bottom: 10px;</a:t>
            </a:r>
          </a:p>
          <a:p>
            <a:pPr marL="0" indent="0">
              <a:buNone/>
            </a:pPr>
            <a:r>
              <a:rPr lang="en-IN" sz="6400" dirty="0"/>
              <a:t>}</a:t>
            </a:r>
          </a:p>
          <a:p>
            <a:pPr marL="0" indent="0">
              <a:buNone/>
            </a:pPr>
            <a:r>
              <a:rPr lang="en-IN" sz="6400" dirty="0"/>
              <a:t>/* Define base styles for all 'button' classes */</a:t>
            </a:r>
          </a:p>
          <a:p>
            <a:pPr marL="0" indent="0">
              <a:buNone/>
            </a:pPr>
            <a:r>
              <a:rPr lang="en-IN" sz="6400" dirty="0"/>
              <a:t>.button {</a:t>
            </a:r>
          </a:p>
          <a:p>
            <a:pPr marL="0" indent="0">
              <a:buNone/>
            </a:pPr>
            <a:r>
              <a:rPr lang="en-IN" sz="6400" dirty="0"/>
              <a:t>  padding: 10px 15px;</a:t>
            </a:r>
          </a:p>
          <a:p>
            <a:pPr marL="0" indent="0">
              <a:buNone/>
            </a:pPr>
            <a:r>
              <a:rPr lang="en-IN" sz="6400" dirty="0"/>
              <a:t>  cursor: pointer;</a:t>
            </a:r>
          </a:p>
          <a:p>
            <a:pPr marL="0" indent="0">
              <a:buNone/>
            </a:pPr>
            <a:r>
              <a:rPr lang="en-IN" sz="64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3225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8B9C2-6DDF-8691-464F-083C24EDB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Practices to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B5BED-D89B-69A9-9FE9-1BF0128F5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Use external CSS</a:t>
            </a:r>
          </a:p>
          <a:p>
            <a:r>
              <a:rPr lang="en-GB" dirty="0"/>
              <a:t>Avoid inline styles</a:t>
            </a:r>
          </a:p>
          <a:p>
            <a:r>
              <a:rPr lang="en-GB" dirty="0"/>
              <a:t>Use meaningful class names</a:t>
            </a:r>
          </a:p>
          <a:p>
            <a:r>
              <a:rPr lang="en-GB" dirty="0"/>
              <a:t>Keep CSS reusable</a:t>
            </a:r>
          </a:p>
          <a:p>
            <a:r>
              <a:rPr lang="en-GB" dirty="0"/>
              <a:t>Follow consistent formatting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564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A6B03-20CE-414C-FF9D-673806C7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DC0B0-F184-7630-C313-2E72D1C97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JavaScript is a client-side scripting language </a:t>
            </a:r>
          </a:p>
          <a:p>
            <a:r>
              <a:rPr lang="en-GB" dirty="0"/>
              <a:t>Used to make web pages interactive and dynamic.</a:t>
            </a:r>
          </a:p>
          <a:p>
            <a:r>
              <a:rPr lang="en-GB" dirty="0"/>
              <a:t>Runs in the browser</a:t>
            </a:r>
          </a:p>
          <a:p>
            <a:r>
              <a:rPr lang="en-GB" dirty="0"/>
              <a:t>Makes pages interactive (clicks, alerts, validation)</a:t>
            </a:r>
          </a:p>
          <a:p>
            <a:r>
              <a:rPr lang="en-GB" dirty="0"/>
              <a:t>Works with HTML and CSS</a:t>
            </a:r>
          </a:p>
          <a:p>
            <a:r>
              <a:rPr lang="en-GB" dirty="0"/>
              <a:t>Used in frontend and backend (Node.js)</a:t>
            </a:r>
          </a:p>
          <a:p>
            <a:r>
              <a:rPr lang="en-IN" dirty="0"/>
              <a:t>Frontend </a:t>
            </a:r>
            <a:r>
              <a:rPr lang="en-IN" dirty="0" err="1"/>
              <a:t>behavior</a:t>
            </a:r>
            <a:r>
              <a:rPr lang="en-IN" dirty="0"/>
              <a:t> (buttons, forms)</a:t>
            </a:r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8419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7140-5501-A7EA-1719-D10538CA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59EB-CE6E-160A-23F1-537D94114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&lt;script&gt;</a:t>
            </a:r>
          </a:p>
          <a:p>
            <a:pPr marL="0" indent="0">
              <a:buNone/>
            </a:pPr>
            <a:r>
              <a:rPr lang="en-GB" dirty="0"/>
              <a:t>    alert("Welcome to Full Stack Development");</a:t>
            </a:r>
          </a:p>
          <a:p>
            <a:pPr marL="0" indent="0">
              <a:buNone/>
            </a:pPr>
            <a:r>
              <a:rPr lang="en-GB" dirty="0"/>
              <a:t>&lt;/script&gt;</a:t>
            </a:r>
          </a:p>
          <a:p>
            <a:pPr marL="0" indent="0">
              <a:buNone/>
            </a:pPr>
            <a:r>
              <a:rPr lang="en-GB" dirty="0"/>
              <a:t>Basically:</a:t>
            </a:r>
          </a:p>
          <a:p>
            <a:pPr marL="0" indent="0">
              <a:buNone/>
            </a:pPr>
            <a:r>
              <a:rPr lang="en-GB" dirty="0"/>
              <a:t>HTML → Structure  </a:t>
            </a:r>
          </a:p>
          <a:p>
            <a:pPr marL="0" indent="0">
              <a:buNone/>
            </a:pPr>
            <a:r>
              <a:rPr lang="en-GB" dirty="0"/>
              <a:t>CSS  → Style  </a:t>
            </a:r>
          </a:p>
          <a:p>
            <a:pPr marL="0" indent="0">
              <a:buNone/>
            </a:pPr>
            <a:r>
              <a:rPr lang="en-GB" dirty="0"/>
              <a:t>JavaScript → </a:t>
            </a:r>
            <a:r>
              <a:rPr lang="en-GB" dirty="0" err="1"/>
              <a:t>Behavior</a:t>
            </a:r>
            <a:endParaRPr lang="en-GB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172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7476B-0C42-CA82-D082-FD723A7FA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466E-93D9-7C78-04C6-07AD62BF7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  Where do I write my </a:t>
            </a:r>
            <a:r>
              <a:rPr lang="en-IN" sz="4800" dirty="0" err="1"/>
              <a:t>Javascript</a:t>
            </a:r>
            <a:r>
              <a:rPr lang="en-IN" sz="4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18180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9FA4C-7D3A-4378-6A2D-D088BE9A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CADEE-2B7F-AEFC-1ED1-89120AC44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3896"/>
            <a:ext cx="10515600" cy="472306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3800" b="1" dirty="0"/>
              <a:t>Way 1: </a:t>
            </a:r>
            <a:r>
              <a:rPr lang="en-GB" sz="3800" b="1" dirty="0"/>
              <a:t> Inside the &lt;script&gt; tag in an HTML file.</a:t>
            </a:r>
          </a:p>
          <a:p>
            <a:pPr marL="0" indent="0">
              <a:buNone/>
            </a:pPr>
            <a:r>
              <a:rPr lang="en-GB" dirty="0"/>
              <a:t>&lt;!DOCTYPE html&gt;</a:t>
            </a:r>
          </a:p>
          <a:p>
            <a:pPr marL="0" indent="0">
              <a:buNone/>
            </a:pPr>
            <a:r>
              <a:rPr lang="en-GB" dirty="0"/>
              <a:t>&lt;html&gt;</a:t>
            </a:r>
          </a:p>
          <a:p>
            <a:pPr marL="0" indent="0">
              <a:buNone/>
            </a:pPr>
            <a:r>
              <a:rPr lang="en-GB" dirty="0"/>
              <a:t>&lt;head&gt;</a:t>
            </a:r>
          </a:p>
          <a:p>
            <a:pPr marL="0" indent="0">
              <a:buNone/>
            </a:pPr>
            <a:r>
              <a:rPr lang="en-GB" dirty="0"/>
              <a:t>    &lt;title&gt;JS Inside HTML&lt;/title&gt;</a:t>
            </a:r>
          </a:p>
          <a:p>
            <a:pPr marL="0" indent="0">
              <a:buNone/>
            </a:pPr>
            <a:r>
              <a:rPr lang="en-GB" dirty="0"/>
              <a:t>&lt;/head&gt;</a:t>
            </a:r>
          </a:p>
          <a:p>
            <a:pPr marL="0" indent="0">
              <a:buNone/>
            </a:pPr>
            <a:r>
              <a:rPr lang="en-GB" dirty="0"/>
              <a:t>&lt;body&gt;</a:t>
            </a:r>
          </a:p>
          <a:p>
            <a:pPr marL="0" indent="0">
              <a:buNone/>
            </a:pPr>
            <a:r>
              <a:rPr lang="en-GB" dirty="0"/>
              <a:t>&lt;h2&gt;Hello Students&lt;/h2&gt;</a:t>
            </a:r>
          </a:p>
          <a:p>
            <a:pPr marL="0" indent="0">
              <a:buNone/>
            </a:pPr>
            <a:r>
              <a:rPr lang="en-GB" dirty="0"/>
              <a:t>&lt;script&gt;</a:t>
            </a:r>
          </a:p>
          <a:p>
            <a:pPr marL="0" indent="0">
              <a:buNone/>
            </a:pPr>
            <a:r>
              <a:rPr lang="en-GB" dirty="0"/>
              <a:t>    alert("JavaScript is working!");</a:t>
            </a:r>
          </a:p>
          <a:p>
            <a:pPr marL="0" indent="0">
              <a:buNone/>
            </a:pPr>
            <a:r>
              <a:rPr lang="en-GB" dirty="0"/>
              <a:t>&lt;/script&gt;</a:t>
            </a:r>
          </a:p>
          <a:p>
            <a:pPr marL="0" indent="0">
              <a:buNone/>
            </a:pPr>
            <a:r>
              <a:rPr lang="en-GB" dirty="0"/>
              <a:t>&lt;/body&gt;</a:t>
            </a:r>
          </a:p>
          <a:p>
            <a:pPr marL="0" indent="0">
              <a:buNone/>
            </a:pPr>
            <a:r>
              <a:rPr lang="en-GB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86263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0BED-85F4-D043-928A-FC655D34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46C06-A206-325C-86BD-BFAB280BB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Way 2: JavaScript in External File (.</a:t>
            </a:r>
            <a:r>
              <a:rPr lang="en-IN" b="1" dirty="0" err="1"/>
              <a:t>js</a:t>
            </a:r>
            <a:r>
              <a:rPr lang="en-IN" b="1" dirty="0"/>
              <a:t> file) &amp; Way3 – Inline is not recommended</a:t>
            </a:r>
          </a:p>
          <a:p>
            <a:pPr marL="0" indent="0">
              <a:buNone/>
            </a:pPr>
            <a:r>
              <a:rPr lang="en-IN" dirty="0"/>
              <a:t>Step 1 : Create a file name script.js</a:t>
            </a:r>
          </a:p>
          <a:p>
            <a:pPr marL="0" indent="0">
              <a:buNone/>
            </a:pPr>
            <a:r>
              <a:rPr lang="en-IN" dirty="0"/>
              <a:t>Step 2 :  In script.js, </a:t>
            </a:r>
          </a:p>
          <a:p>
            <a:pPr marL="0" indent="0">
              <a:buNone/>
            </a:pPr>
            <a:r>
              <a:rPr lang="en-GB" dirty="0"/>
              <a:t>function greet() {</a:t>
            </a:r>
          </a:p>
          <a:p>
            <a:pPr marL="0" indent="0">
              <a:buNone/>
            </a:pPr>
            <a:r>
              <a:rPr lang="en-GB" dirty="0"/>
              <a:t>    alert("Welcome to Full Stack");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IN" dirty="0"/>
              <a:t>Step 3: Link script.js with html</a:t>
            </a:r>
          </a:p>
          <a:p>
            <a:pPr marL="0" indent="0">
              <a:buNone/>
            </a:pPr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="script.js"&gt;&lt;/script&gt;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105748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984D-CF8E-B20F-FBB7-DBE44E239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83397-5DBE-8AB0-EFE7-9B4460428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    &lt;title&gt;External JS&lt;/title&gt;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&lt;button onclick="greet()"&gt;Click Me&lt;/button&gt;</a:t>
            </a:r>
          </a:p>
          <a:p>
            <a:pPr marL="0" indent="0">
              <a:buNone/>
            </a:pPr>
            <a:r>
              <a:rPr lang="en-IN" dirty="0"/>
              <a:t>&lt;script </a:t>
            </a:r>
            <a:r>
              <a:rPr lang="en-IN" dirty="0" err="1"/>
              <a:t>src</a:t>
            </a:r>
            <a:r>
              <a:rPr lang="en-IN" dirty="0"/>
              <a:t>="script.js"&gt;&lt;/script&gt;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25357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DA0F-9AF9-C6C9-1063-18D56208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– Functions: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6410-F06A-D8CB-EA29-C430C9D69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function is a block of reusable code that performs a specific task.</a:t>
            </a:r>
          </a:p>
          <a:p>
            <a:r>
              <a:rPr lang="en-GB" dirty="0"/>
              <a:t>We use functions to: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Avoid repetition</a:t>
            </a:r>
          </a:p>
          <a:p>
            <a:pPr marL="0" indent="0">
              <a:buNone/>
            </a:pPr>
            <a:r>
              <a:rPr lang="en-IN" dirty="0"/>
              <a:t>Improves readability</a:t>
            </a:r>
          </a:p>
          <a:p>
            <a:pPr marL="0" indent="0">
              <a:buNone/>
            </a:pPr>
            <a:r>
              <a:rPr lang="en-IN" dirty="0"/>
              <a:t>Easier maintenance</a:t>
            </a:r>
          </a:p>
        </p:txBody>
      </p:sp>
    </p:spTree>
    <p:extLst>
      <p:ext uri="{BB962C8B-B14F-4D97-AF65-F5344CB8AC3E}">
        <p14:creationId xmlns:p14="http://schemas.microsoft.com/office/powerpoint/2010/main" val="8607762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D90A-B0BD-1664-3512-ED38B8D30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625C-B2D2-1DB4-A045-3C596E72C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functionName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// code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GB" dirty="0"/>
              <a:t>function greet() {</a:t>
            </a:r>
          </a:p>
          <a:p>
            <a:pPr marL="0" indent="0">
              <a:buNone/>
            </a:pPr>
            <a:r>
              <a:rPr lang="en-GB" dirty="0"/>
              <a:t>    console.log("Hello Students");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greet();   // function call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64500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59F21-ECC2-F14E-7390-E5969679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F8DA-6E7C-BB85-6DB7-F5B4D5D91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With </a:t>
            </a:r>
            <a:r>
              <a:rPr lang="en-IN" dirty="0" err="1"/>
              <a:t>Paramaters</a:t>
            </a:r>
            <a:r>
              <a:rPr lang="en-IN" dirty="0"/>
              <a:t>:</a:t>
            </a:r>
          </a:p>
          <a:p>
            <a:endParaRPr lang="en-IN" dirty="0"/>
          </a:p>
          <a:p>
            <a:pPr marL="0" indent="0">
              <a:buNone/>
            </a:pPr>
            <a:r>
              <a:rPr lang="en-GB" dirty="0"/>
              <a:t>function add(a, b) {</a:t>
            </a:r>
          </a:p>
          <a:p>
            <a:pPr marL="0" indent="0">
              <a:buNone/>
            </a:pPr>
            <a:r>
              <a:rPr lang="en-GB" dirty="0"/>
              <a:t>    return a + b;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let result = add(10, 20);</a:t>
            </a:r>
          </a:p>
          <a:p>
            <a:pPr marL="0" indent="0">
              <a:buNone/>
            </a:pPr>
            <a:r>
              <a:rPr lang="en-GB" dirty="0"/>
              <a:t>console.log(result);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0507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20792-C319-FADA-5EEB-E6EA4531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2DA5-D722-9B5D-0485-3E613B708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array is a collection of multiple values stored in a single variable.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F2352B-4957-71EC-CEE7-83292E9064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835859"/>
              </p:ext>
            </p:extLst>
          </p:nvPr>
        </p:nvGraphicFramePr>
        <p:xfrm>
          <a:off x="1152144" y="2492534"/>
          <a:ext cx="9689592" cy="3840480"/>
        </p:xfrm>
        <a:graphic>
          <a:graphicData uri="http://schemas.openxmlformats.org/drawingml/2006/table">
            <a:tbl>
              <a:tblPr/>
              <a:tblGrid>
                <a:gridCol w="3229864">
                  <a:extLst>
                    <a:ext uri="{9D8B030D-6E8A-4147-A177-3AD203B41FA5}">
                      <a16:colId xmlns:a16="http://schemas.microsoft.com/office/drawing/2014/main" val="43475046"/>
                    </a:ext>
                  </a:extLst>
                </a:gridCol>
                <a:gridCol w="3229864">
                  <a:extLst>
                    <a:ext uri="{9D8B030D-6E8A-4147-A177-3AD203B41FA5}">
                      <a16:colId xmlns:a16="http://schemas.microsoft.com/office/drawing/2014/main" val="2700369315"/>
                    </a:ext>
                  </a:extLst>
                </a:gridCol>
                <a:gridCol w="3229864">
                  <a:extLst>
                    <a:ext uri="{9D8B030D-6E8A-4147-A177-3AD203B41FA5}">
                      <a16:colId xmlns:a16="http://schemas.microsoft.com/office/drawing/2014/main" val="210559655"/>
                    </a:ext>
                  </a:extLst>
                </a:gridCol>
              </a:tblGrid>
              <a:tr h="2922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Type Name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Example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476635"/>
                  </a:ext>
                </a:extLst>
              </a:tr>
              <a:tr h="51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Single-Dimensional Array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Stores multiple values in a single list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Courier New" panose="02070309020205020404" pitchFamily="49" charset="0"/>
                        </a:rPr>
                        <a:t>let colors = ["Red", "Green", "Blue"];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216044"/>
                  </a:ext>
                </a:extLst>
              </a:tr>
              <a:tr h="51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Multi-Dimensional Array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Stores data in rows and columns using nested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let marks = [[85, 90], [78, 88]];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897408"/>
                  </a:ext>
                </a:extLst>
              </a:tr>
              <a:tr h="51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Homogeneous Array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Stores elements of the same data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let numbers = [10, 20, 30, 40];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373307"/>
                  </a:ext>
                </a:extLst>
              </a:tr>
              <a:tr h="51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Heterogeneous Array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Stores elements of different data types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let student = ["Ravi", 21, true];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8807"/>
                  </a:ext>
                </a:extLst>
              </a:tr>
              <a:tr h="730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Array of Objects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Stores multiple objects in a single 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Courier New" panose="02070309020205020404" pitchFamily="49" charset="0"/>
                        </a:rPr>
                        <a:t>let students = [{</a:t>
                      </a:r>
                      <a:r>
                        <a:rPr lang="en-GB" dirty="0" err="1">
                          <a:latin typeface="Courier New" panose="02070309020205020404" pitchFamily="49" charset="0"/>
                        </a:rPr>
                        <a:t>name:"Anu</a:t>
                      </a:r>
                      <a:r>
                        <a:rPr lang="en-GB" dirty="0">
                          <a:latin typeface="Courier New" panose="02070309020205020404" pitchFamily="49" charset="0"/>
                        </a:rPr>
                        <a:t>", age:20}, {</a:t>
                      </a:r>
                      <a:r>
                        <a:rPr lang="en-GB" dirty="0" err="1">
                          <a:latin typeface="Courier New" panose="02070309020205020404" pitchFamily="49" charset="0"/>
                        </a:rPr>
                        <a:t>name:“Ram</a:t>
                      </a:r>
                      <a:r>
                        <a:rPr lang="en-GB" dirty="0">
                          <a:latin typeface="Courier New" panose="02070309020205020404" pitchFamily="49" charset="0"/>
                        </a:rPr>
                        <a:t>", age:22}];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406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7495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D7155-D904-F007-634B-DD3674F7F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FA28C-BB6E-F653-EB55-55C6ED8F3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  <a:p>
            <a:pPr marL="0" indent="0">
              <a:buNone/>
            </a:pPr>
            <a:r>
              <a:rPr lang="en-GB" dirty="0"/>
              <a:t>let subjects = ["HTML", "CSS", "JavaScript"];</a:t>
            </a:r>
          </a:p>
          <a:p>
            <a:pPr marL="0" indent="0">
              <a:buNone/>
            </a:pPr>
            <a:r>
              <a:rPr lang="en-GB" dirty="0"/>
              <a:t>console.log(subjects);</a:t>
            </a:r>
          </a:p>
          <a:p>
            <a:pPr marL="0" indent="0">
              <a:buNone/>
            </a:pPr>
            <a:r>
              <a:rPr lang="en-IN" dirty="0"/>
              <a:t>Accessing the array:</a:t>
            </a:r>
          </a:p>
          <a:p>
            <a:pPr marL="0" indent="0">
              <a:buNone/>
            </a:pPr>
            <a:r>
              <a:rPr lang="en-GB" dirty="0"/>
              <a:t>console.log(subjects[0]);  // HTML</a:t>
            </a:r>
          </a:p>
          <a:p>
            <a:pPr marL="0" indent="0">
              <a:buNone/>
            </a:pPr>
            <a:r>
              <a:rPr lang="en-GB" dirty="0"/>
              <a:t>console.log(subjects[1]);  // CSS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85855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D2A4-FEDD-D284-0777-B124369E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0EA58-A5F0-D0F3-BB62-523129D22F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array operations:</a:t>
            </a:r>
          </a:p>
          <a:p>
            <a:pPr marL="0" indent="0">
              <a:buNone/>
            </a:pPr>
            <a:r>
              <a:rPr lang="en-GB" dirty="0" err="1"/>
              <a:t>subjects.push</a:t>
            </a:r>
            <a:r>
              <a:rPr lang="en-GB" dirty="0"/>
              <a:t>("React");   // add element</a:t>
            </a:r>
          </a:p>
          <a:p>
            <a:pPr marL="0" indent="0">
              <a:buNone/>
            </a:pPr>
            <a:r>
              <a:rPr lang="en-GB" dirty="0" err="1"/>
              <a:t>subjects.pop</a:t>
            </a:r>
            <a:r>
              <a:rPr lang="en-GB" dirty="0"/>
              <a:t>();           // remove last element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61856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BCF81-FCBD-2366-455D-1B984FEB4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EA5D9-B0AB-BDB6-BCD4-54116B9E0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</a:t>
            </a:r>
            <a:r>
              <a:rPr lang="en-GB" b="1" dirty="0"/>
              <a:t>object</a:t>
            </a:r>
            <a:r>
              <a:rPr lang="en-GB" dirty="0"/>
              <a:t> stores data in </a:t>
            </a:r>
            <a:r>
              <a:rPr lang="en-GB" b="1" dirty="0"/>
              <a:t>key–value pairs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IN" dirty="0"/>
              <a:t>let student = {</a:t>
            </a:r>
          </a:p>
          <a:p>
            <a:pPr marL="0" indent="0">
              <a:buNone/>
            </a:pPr>
            <a:r>
              <a:rPr lang="en-IN" dirty="0"/>
              <a:t>    name: "Anu",</a:t>
            </a:r>
          </a:p>
          <a:p>
            <a:pPr marL="0" indent="0">
              <a:buNone/>
            </a:pPr>
            <a:r>
              <a:rPr lang="en-IN" dirty="0"/>
              <a:t>    age: 20,</a:t>
            </a:r>
          </a:p>
          <a:p>
            <a:pPr marL="0" indent="0">
              <a:buNone/>
            </a:pPr>
            <a:r>
              <a:rPr lang="en-IN" dirty="0"/>
              <a:t>    course: "Full Stack"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console.log(student.name);</a:t>
            </a:r>
          </a:p>
          <a:p>
            <a:pPr marL="0" indent="0">
              <a:buNone/>
            </a:pPr>
            <a:r>
              <a:rPr lang="en-IN" dirty="0"/>
              <a:t>console.log(</a:t>
            </a:r>
            <a:r>
              <a:rPr lang="en-IN" dirty="0" err="1"/>
              <a:t>student.course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15235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B01A3-9E12-F859-6267-F2E57379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-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05B11-3693-3EC9-F024-472DA072C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string</a:t>
            </a:r>
            <a:r>
              <a:rPr lang="en-GB" dirty="0"/>
              <a:t> is a sequence of characters used to represent text.</a:t>
            </a:r>
          </a:p>
          <a:p>
            <a:r>
              <a:rPr lang="en-GB" dirty="0"/>
              <a:t>Syntax:</a:t>
            </a:r>
          </a:p>
          <a:p>
            <a:pPr marL="0" indent="0">
              <a:buNone/>
            </a:pPr>
            <a:r>
              <a:rPr lang="en-GB" dirty="0"/>
              <a:t>let message = "Welcome to JavaScript";</a:t>
            </a:r>
          </a:p>
          <a:p>
            <a:pPr marL="0" indent="0">
              <a:buNone/>
            </a:pPr>
            <a:r>
              <a:rPr lang="en-GB" dirty="0"/>
              <a:t>console.log(message);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2153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5A7B6-4730-5576-F850-499E96570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String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124A3-61A3-8C9A-5E7A-809B1DD83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console.log(</a:t>
            </a:r>
            <a:r>
              <a:rPr lang="en-GB" dirty="0" err="1"/>
              <a:t>message.length</a:t>
            </a:r>
            <a:r>
              <a:rPr lang="en-GB" dirty="0"/>
              <a:t>);</a:t>
            </a:r>
          </a:p>
          <a:p>
            <a:pPr marL="0" indent="0">
              <a:buNone/>
            </a:pPr>
            <a:r>
              <a:rPr lang="en-GB" dirty="0"/>
              <a:t>console.log(</a:t>
            </a:r>
            <a:r>
              <a:rPr lang="en-GB" dirty="0" err="1"/>
              <a:t>message.toUpperCase</a:t>
            </a:r>
            <a:r>
              <a:rPr lang="en-GB" dirty="0"/>
              <a:t>());</a:t>
            </a:r>
          </a:p>
          <a:p>
            <a:pPr marL="0" indent="0">
              <a:buNone/>
            </a:pPr>
            <a:r>
              <a:rPr lang="en-GB" dirty="0"/>
              <a:t>console.log(</a:t>
            </a:r>
            <a:r>
              <a:rPr lang="en-GB" dirty="0" err="1"/>
              <a:t>message.toLowerCase</a:t>
            </a:r>
            <a:r>
              <a:rPr lang="en-GB" dirty="0"/>
              <a:t>());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13274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3EFE9-3EBF-D290-83D5-5F3FA961A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– String -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B4786-DD9F-70C7-DC8F-6E73AA7A3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firstName</a:t>
            </a:r>
            <a:r>
              <a:rPr lang="en-IN" dirty="0"/>
              <a:t> = "Ravi";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lastName</a:t>
            </a:r>
            <a:r>
              <a:rPr lang="en-IN" dirty="0"/>
              <a:t> = "Kumar";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fullName</a:t>
            </a:r>
            <a:r>
              <a:rPr lang="en-IN" dirty="0"/>
              <a:t> = </a:t>
            </a:r>
            <a:r>
              <a:rPr lang="en-IN" dirty="0" err="1"/>
              <a:t>firstName</a:t>
            </a:r>
            <a:r>
              <a:rPr lang="en-IN" dirty="0"/>
              <a:t> + " " + </a:t>
            </a:r>
            <a:r>
              <a:rPr lang="en-IN" dirty="0" err="1"/>
              <a:t>lastName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console.log(</a:t>
            </a:r>
            <a:r>
              <a:rPr lang="en-IN" dirty="0" err="1"/>
              <a:t>fullName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19354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92F7-394E-92A6-6AD8-2BC452A0C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Javascript</a:t>
            </a:r>
            <a:r>
              <a:rPr lang="en-IN" dirty="0"/>
              <a:t> – Overview &amp; Purpose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C98F38D-1D8D-3895-6696-951FAEF81F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2421015"/>
              </p:ext>
            </p:extLst>
          </p:nvPr>
        </p:nvGraphicFramePr>
        <p:xfrm>
          <a:off x="838200" y="2904014"/>
          <a:ext cx="10515600" cy="21945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869557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297198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043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Adds interactivity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979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Function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Reusable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31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Array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multiple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75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key–value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3500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Stores 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328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08186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C118-EE4E-7B9D-BBAB-CFF9CEBCD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–Extensible Markup Language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877F5-3E86-2023-9069-7A0D7529B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markup?</a:t>
            </a:r>
          </a:p>
          <a:p>
            <a:r>
              <a:rPr lang="en-GB" dirty="0"/>
              <a:t>XML (</a:t>
            </a:r>
            <a:r>
              <a:rPr lang="en-GB" dirty="0" err="1"/>
              <a:t>eXtensible</a:t>
            </a:r>
            <a:r>
              <a:rPr lang="en-GB" dirty="0"/>
              <a:t> Markup Language) is a markup language used to store, structure and </a:t>
            </a:r>
            <a:r>
              <a:rPr lang="en-GB" b="1" dirty="0"/>
              <a:t>transport data </a:t>
            </a:r>
            <a:r>
              <a:rPr lang="en-GB" dirty="0"/>
              <a:t>between different systems in a platform-independent manner</a:t>
            </a:r>
          </a:p>
          <a:p>
            <a:r>
              <a:rPr lang="en-GB" dirty="0"/>
              <a:t>What makes it extensible?</a:t>
            </a:r>
          </a:p>
          <a:p>
            <a:r>
              <a:rPr lang="en-GB" dirty="0"/>
              <a:t>XML is not used for web designing because it is used to store and transport data, not to display or style web pages.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8715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62F8-F6E8-88E3-6915-76C824D4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XML?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1546D-28F8-A4E7-3FDB-279ED6F82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Different systems/ different programming languages/ different platforms – xml is common data format</a:t>
            </a:r>
          </a:p>
          <a:p>
            <a:pPr marL="0" indent="0">
              <a:buNone/>
            </a:pPr>
            <a:r>
              <a:rPr lang="en-GB" dirty="0"/>
              <a:t>These issues are solved by XML using:</a:t>
            </a:r>
          </a:p>
          <a:p>
            <a:r>
              <a:rPr lang="en-GB" dirty="0"/>
              <a:t>A common data format</a:t>
            </a:r>
          </a:p>
          <a:p>
            <a:r>
              <a:rPr lang="en-GB" dirty="0"/>
              <a:t>Platform-independent communication</a:t>
            </a:r>
          </a:p>
          <a:p>
            <a:r>
              <a:rPr lang="en-GB" dirty="0"/>
              <a:t>Structured and self-descriptive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48687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0A489-FC6A-74C0-4614-FFAB339E9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–Extensible Markup Language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631ED-87BA-CF36-12C9-BB425BBD5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Extensible - We can create our own tags</a:t>
            </a:r>
          </a:p>
          <a:p>
            <a:r>
              <a:rPr lang="en-GB" dirty="0"/>
              <a:t>Markup Language -  Uses tags to mark or describe data</a:t>
            </a:r>
            <a:endParaRPr lang="nl-NL" dirty="0"/>
          </a:p>
          <a:p>
            <a:r>
              <a:rPr lang="nl-NL" dirty="0"/>
              <a:t>&lt;student&gt;</a:t>
            </a:r>
          </a:p>
          <a:p>
            <a:pPr marL="0" indent="0">
              <a:buNone/>
            </a:pPr>
            <a:r>
              <a:rPr lang="nl-NL" dirty="0"/>
              <a:t>    &lt;name&gt;Anu&lt;/name&gt;</a:t>
            </a:r>
          </a:p>
          <a:p>
            <a:pPr marL="0" indent="0">
              <a:buNone/>
            </a:pPr>
            <a:r>
              <a:rPr lang="nl-NL" dirty="0"/>
              <a:t>&lt;/student&gt;</a:t>
            </a:r>
          </a:p>
          <a:p>
            <a:pPr marL="0" indent="0">
              <a:buNone/>
            </a:pPr>
            <a:r>
              <a:rPr lang="en-GB" dirty="0"/>
              <a:t>Here, &lt;student&gt; and &lt;name&gt; are user-defined tags.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8567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E428-4799-80DF-33C0-2CB794FB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–Extensible Markup Language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C6220-A1FB-B4DA-75FD-30D8AEA0A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Structured data storage format</a:t>
            </a:r>
          </a:p>
          <a:p>
            <a:pPr marL="0" indent="0">
              <a:buNone/>
            </a:pPr>
            <a:r>
              <a:rPr lang="en-GB" dirty="0"/>
              <a:t>&lt;employee&gt;</a:t>
            </a:r>
          </a:p>
          <a:p>
            <a:pPr marL="0" indent="0">
              <a:buNone/>
            </a:pPr>
            <a:r>
              <a:rPr lang="en-GB" dirty="0"/>
              <a:t>    &lt;id&gt;101&lt;/id&gt;</a:t>
            </a:r>
          </a:p>
          <a:p>
            <a:pPr marL="0" indent="0">
              <a:buNone/>
            </a:pPr>
            <a:r>
              <a:rPr lang="en-GB" dirty="0"/>
              <a:t>    &lt;name&gt;Ravi&lt;/name&gt;</a:t>
            </a:r>
          </a:p>
          <a:p>
            <a:pPr marL="0" indent="0">
              <a:buNone/>
            </a:pPr>
            <a:r>
              <a:rPr lang="en-GB" dirty="0"/>
              <a:t>&lt;/employee&gt;</a:t>
            </a:r>
          </a:p>
          <a:p>
            <a:r>
              <a:rPr lang="en-IN" dirty="0"/>
              <a:t>Stores in a tree like hierarchical structure</a:t>
            </a:r>
          </a:p>
          <a:p>
            <a:r>
              <a:rPr lang="en-IN" dirty="0"/>
              <a:t>Platform Independent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5555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BD036-669A-3943-CAAA-293192BB7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– Transporting data between different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8DD45-AB09-1724-2773-E2061ACBC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XML is commonly used to </a:t>
            </a:r>
            <a:r>
              <a:rPr lang="en-GB" b="1" dirty="0"/>
              <a:t>transfer data</a:t>
            </a:r>
            <a:r>
              <a:rPr lang="en-GB" dirty="0"/>
              <a:t> between:</a:t>
            </a:r>
          </a:p>
          <a:p>
            <a:r>
              <a:rPr lang="en-GB" dirty="0"/>
              <a:t>Client  - Server</a:t>
            </a:r>
          </a:p>
          <a:p>
            <a:r>
              <a:rPr lang="en-GB" dirty="0"/>
              <a:t>Application -  Application</a:t>
            </a:r>
          </a:p>
          <a:p>
            <a:r>
              <a:rPr lang="en-GB" dirty="0"/>
              <a:t>Web services - Databases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8200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448E-28B3-8090-BA97-2DCC07518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Core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523A0-851F-0101-C8AB-0EFE921E8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Elements:</a:t>
            </a:r>
            <a:r>
              <a:rPr lang="en-IN" dirty="0"/>
              <a:t> Data enclosed by start and end tags (e.g., &lt;name&gt;John&lt;/name&gt;).</a:t>
            </a:r>
          </a:p>
          <a:p>
            <a:r>
              <a:rPr lang="en-IN" b="1" dirty="0"/>
              <a:t>Attributes:</a:t>
            </a:r>
            <a:r>
              <a:rPr lang="en-IN" dirty="0"/>
              <a:t> Provide additional info about elements (e.g., &lt;book id="123"&gt;).</a:t>
            </a:r>
          </a:p>
          <a:p>
            <a:r>
              <a:rPr lang="en-IN" b="1" dirty="0"/>
              <a:t>XML Declaration:</a:t>
            </a:r>
            <a:r>
              <a:rPr lang="en-IN" dirty="0"/>
              <a:t> &lt;?xml version="1.0" encoding="UTF-8"?&gt; provides metadata about the document.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3280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BBC94-5E6C-2C99-07B8-F6CC0B41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Core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47D8D5-F5A1-C44C-780A-EEABE403F9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9713396"/>
              </p:ext>
            </p:extLst>
          </p:nvPr>
        </p:nvGraphicFramePr>
        <p:xfrm>
          <a:off x="838200" y="198961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6750098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705745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029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XML Declaration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Defines version and encoding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063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41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Root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Parent of all elements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9575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Attributes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Additional element info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897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Namespaces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Avoid name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47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Human 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116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DTD / XSD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5506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8207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2FCEE-1E9A-3694-CC5C-EDC74EAF3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rules/ properties that makeup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2E2A9-7FA2-E6B1-0EF1-8D504EEAF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XML must have one root element</a:t>
            </a:r>
          </a:p>
          <a:p>
            <a:r>
              <a:rPr lang="en-GB" dirty="0"/>
              <a:t>Tags must be properly nested</a:t>
            </a:r>
          </a:p>
          <a:p>
            <a:r>
              <a:rPr lang="en-GB" dirty="0"/>
              <a:t>Tags are case-sensitive and strict syntax rules</a:t>
            </a:r>
          </a:p>
          <a:p>
            <a:r>
              <a:rPr lang="en-GB" dirty="0"/>
              <a:t>Closing tags are mandatory</a:t>
            </a:r>
          </a:p>
          <a:p>
            <a:r>
              <a:rPr lang="en-GB" dirty="0"/>
              <a:t>Attribute values must be in quotes</a:t>
            </a:r>
          </a:p>
          <a:p>
            <a:pPr marL="0" indent="0">
              <a:buNone/>
            </a:pPr>
            <a:r>
              <a:rPr lang="nl-NL" dirty="0"/>
              <a:t>&lt;student id="101"&gt;</a:t>
            </a:r>
          </a:p>
          <a:p>
            <a:pPr marL="0" indent="0">
              <a:buNone/>
            </a:pPr>
            <a:r>
              <a:rPr lang="nl-NL" dirty="0"/>
              <a:t>    &lt;name&gt;Anu&lt;/name&gt;</a:t>
            </a:r>
          </a:p>
          <a:p>
            <a:pPr marL="0" indent="0">
              <a:buNone/>
            </a:pPr>
            <a:r>
              <a:rPr lang="nl-NL" dirty="0"/>
              <a:t>&lt;/student&gt;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5737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BDD8B-D7E6-6765-7982-1A9383645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b="1" dirty="0"/>
              <a:t>Can we design websites using HTML?</a:t>
            </a:r>
          </a:p>
        </p:txBody>
      </p:sp>
    </p:spTree>
    <p:extLst>
      <p:ext uri="{BB962C8B-B14F-4D97-AF65-F5344CB8AC3E}">
        <p14:creationId xmlns:p14="http://schemas.microsoft.com/office/powerpoint/2010/main" val="15929127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BD911-A41D-9785-409C-C202C64F4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Then where do we use XML?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FA516A-12F9-D782-D0F8-063144A4F2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827762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4748755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998611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054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HTML, CSS, JavaScript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5102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Java, Node.js,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1765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Exchange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XML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1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MySQL, MongoDB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730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687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AD46-6BA0-A422-CB8E-B570BD80E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Transport in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B12BD-2F74-9F39-A2B3-B3F995F2B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 transport in XML refers to the process of sending data from one system to another using XML format.</a:t>
            </a:r>
          </a:p>
          <a:p>
            <a:r>
              <a:rPr lang="en-GB" dirty="0"/>
              <a:t>XML acts as a carrier (medium) for data between applications.</a:t>
            </a:r>
          </a:p>
          <a:p>
            <a:r>
              <a:rPr lang="en-GB" dirty="0"/>
              <a:t>Different systems may use: Different operating systems/Different programming languages / Different databases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3258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445E8-90E8-1CC6-507D-A8A88D2DB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Validation - </a:t>
            </a:r>
            <a:r>
              <a:rPr lang="en-GB" dirty="0"/>
              <a:t>“If XML allows user-defined tags, why validation and syntax rules?”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96A1F-F58D-76EC-0FD5-31E23D50B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XML validation is the process of verifying whether an XML document follows the defined structure and rules</a:t>
            </a:r>
            <a:endParaRPr lang="en-IN" dirty="0"/>
          </a:p>
          <a:p>
            <a:r>
              <a:rPr lang="en-IN" dirty="0"/>
              <a:t>Validation ensures:</a:t>
            </a:r>
          </a:p>
          <a:p>
            <a:pPr marL="0" indent="0">
              <a:buNone/>
            </a:pPr>
            <a:r>
              <a:rPr lang="en-IN" dirty="0"/>
              <a:t>Correct structure</a:t>
            </a:r>
          </a:p>
          <a:p>
            <a:pPr marL="0" indent="0">
              <a:buNone/>
            </a:pPr>
            <a:r>
              <a:rPr lang="en-IN" dirty="0"/>
              <a:t>Correct data format</a:t>
            </a:r>
          </a:p>
          <a:p>
            <a:pPr marL="0" indent="0">
              <a:buNone/>
            </a:pPr>
            <a:r>
              <a:rPr lang="en-IN" dirty="0"/>
              <a:t>Error-free data exchange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44931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8EBCA-38CF-8C70-721E-4CE657C8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2132B-BD31-2896-E59E-6FE6F9E0C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XML can be validated in two stages:</a:t>
            </a:r>
          </a:p>
          <a:p>
            <a:r>
              <a:rPr lang="en-IN" dirty="0"/>
              <a:t>Stage 1: Well Formed XML</a:t>
            </a:r>
          </a:p>
          <a:p>
            <a:pPr marL="0" indent="0">
              <a:buNone/>
            </a:pPr>
            <a:r>
              <a:rPr lang="nl-NL" dirty="0"/>
              <a:t>&lt;student&gt;</a:t>
            </a:r>
          </a:p>
          <a:p>
            <a:pPr marL="0" indent="0">
              <a:buNone/>
            </a:pPr>
            <a:r>
              <a:rPr lang="nl-NL" dirty="0"/>
              <a:t>   &lt;name&gt;Arun&lt;/name&gt;</a:t>
            </a:r>
          </a:p>
          <a:p>
            <a:pPr marL="0" indent="0">
              <a:buNone/>
            </a:pPr>
            <a:r>
              <a:rPr lang="nl-NL" dirty="0"/>
              <a:t>&lt;/student&gt;</a:t>
            </a:r>
          </a:p>
          <a:p>
            <a:pPr marL="0" indent="0">
              <a:buNone/>
            </a:pPr>
            <a:r>
              <a:rPr lang="en-IN" dirty="0"/>
              <a:t>---------------</a:t>
            </a:r>
          </a:p>
          <a:p>
            <a:pPr marL="0" indent="0">
              <a:buNone/>
            </a:pPr>
            <a:r>
              <a:rPr lang="en-IN" dirty="0"/>
              <a:t>&lt;student&gt;</a:t>
            </a:r>
          </a:p>
          <a:p>
            <a:pPr marL="0" indent="0">
              <a:buNone/>
            </a:pPr>
            <a:r>
              <a:rPr lang="en-IN" dirty="0"/>
              <a:t>   &lt;name&gt;Arun&lt;/student&gt;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15357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1E58-9DC7-9F4C-621D-487F903C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32867-B4DD-DC63-C189-0E76A9043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Stage 2:</a:t>
            </a:r>
          </a:p>
          <a:p>
            <a:pPr marL="0" indent="0">
              <a:buNone/>
            </a:pPr>
            <a:r>
              <a:rPr lang="en-IN" b="1" dirty="0"/>
              <a:t>Type 1: DTD (Document Type Definition) – </a:t>
            </a:r>
            <a:r>
              <a:rPr lang="en-IN" dirty="0"/>
              <a:t>Basic Structure rules</a:t>
            </a:r>
          </a:p>
          <a:p>
            <a:pPr marL="0" indent="0">
              <a:buNone/>
            </a:pPr>
            <a:r>
              <a:rPr lang="en-IN" dirty="0"/>
              <a:t>student.dtd</a:t>
            </a:r>
          </a:p>
          <a:p>
            <a:pPr marL="0" indent="0">
              <a:buNone/>
            </a:pPr>
            <a:r>
              <a:rPr lang="en-GB" dirty="0"/>
              <a:t>&lt;!ELEMENT student (name, marks)&gt;</a:t>
            </a:r>
          </a:p>
          <a:p>
            <a:pPr marL="0" indent="0">
              <a:buNone/>
            </a:pPr>
            <a:r>
              <a:rPr lang="en-GB" dirty="0"/>
              <a:t>&lt;!ELEMENT name (#PCDATA)&gt;</a:t>
            </a:r>
          </a:p>
          <a:p>
            <a:pPr marL="0" indent="0">
              <a:buNone/>
            </a:pPr>
            <a:r>
              <a:rPr lang="en-GB" dirty="0"/>
              <a:t>&lt;!ELEMENT marks (#PCDATA)&gt; </a:t>
            </a:r>
          </a:p>
          <a:p>
            <a:pPr marL="0" indent="0">
              <a:buNone/>
            </a:pPr>
            <a:r>
              <a:rPr lang="en-IN" dirty="0"/>
              <a:t>&lt;!DOCTYPE student SYSTEM "student.dtd"&gt;</a:t>
            </a:r>
          </a:p>
          <a:p>
            <a:pPr marL="0" indent="0">
              <a:buNone/>
            </a:pPr>
            <a:r>
              <a:rPr lang="en-IN" dirty="0"/>
              <a:t>&lt;student&gt;</a:t>
            </a:r>
          </a:p>
          <a:p>
            <a:pPr marL="0" indent="0">
              <a:buNone/>
            </a:pPr>
            <a:r>
              <a:rPr lang="en-IN" dirty="0"/>
              <a:t>   &lt;name&gt;Arun&lt;/name&gt;</a:t>
            </a:r>
          </a:p>
          <a:p>
            <a:pPr marL="0" indent="0">
              <a:buNone/>
            </a:pPr>
            <a:r>
              <a:rPr lang="en-IN" dirty="0"/>
              <a:t>   &lt;marks&gt;85&lt;/marks&gt;</a:t>
            </a:r>
          </a:p>
          <a:p>
            <a:pPr marL="0" indent="0">
              <a:buNone/>
            </a:pPr>
            <a:r>
              <a:rPr lang="en-IN" dirty="0"/>
              <a:t>&lt;/student&gt;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6498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85C3C-2D49-85FC-37B5-DBCF811BC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XML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D6365-03A7-9A17-7AA0-0EA1A1E5FB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Stage 2: Type 2 </a:t>
            </a:r>
          </a:p>
          <a:p>
            <a:r>
              <a:rPr lang="en-GB" dirty="0"/>
              <a:t>Follows a </a:t>
            </a:r>
            <a:r>
              <a:rPr lang="en-GB" b="1" dirty="0"/>
              <a:t>DTD or XML Schema (XSD)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xs:element</a:t>
            </a:r>
            <a:r>
              <a:rPr lang="en-IN" dirty="0"/>
              <a:t> name="marks" type="</a:t>
            </a:r>
            <a:r>
              <a:rPr lang="en-IN" dirty="0" err="1"/>
              <a:t>xs:integer</a:t>
            </a:r>
            <a:r>
              <a:rPr lang="en-IN" dirty="0"/>
              <a:t>"/&gt;</a:t>
            </a:r>
          </a:p>
          <a:p>
            <a:pPr marL="0" indent="0">
              <a:buNone/>
            </a:pPr>
            <a:r>
              <a:rPr lang="en-IN" dirty="0"/>
              <a:t>Validation flow diagram: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1217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250C6-10BA-6B5D-6485-4E323222F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Validation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458A2-DAFD-3FE4-BBE7-3DD5D82E0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XML Document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Syntax Check (Well-Formed)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DTD / XSD Validation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Safe Data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3766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97CE-AB96-AF86-91F2-5E3D7BD8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XML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661C374-2C56-6CAE-5E55-252D611786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2922581"/>
              </p:ext>
            </p:extLst>
          </p:nvPr>
        </p:nvGraphicFramePr>
        <p:xfrm>
          <a:off x="2060484" y="1798919"/>
          <a:ext cx="8071032" cy="4404750"/>
        </p:xfrm>
        <a:graphic>
          <a:graphicData uri="http://schemas.openxmlformats.org/drawingml/2006/table">
            <a:tbl>
              <a:tblPr/>
              <a:tblGrid>
                <a:gridCol w="2017758">
                  <a:extLst>
                    <a:ext uri="{9D8B030D-6E8A-4147-A177-3AD203B41FA5}">
                      <a16:colId xmlns:a16="http://schemas.microsoft.com/office/drawing/2014/main" val="648046923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3102897678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352635643"/>
                    </a:ext>
                  </a:extLst>
                </a:gridCol>
                <a:gridCol w="2017758">
                  <a:extLst>
                    <a:ext uri="{9D8B030D-6E8A-4147-A177-3AD203B41FA5}">
                      <a16:colId xmlns:a16="http://schemas.microsoft.com/office/drawing/2014/main" val="3578924549"/>
                    </a:ext>
                  </a:extLst>
                </a:gridCol>
              </a:tblGrid>
              <a:tr h="2807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Application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Description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Example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9059317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 Exchange Between Systems</a:t>
                      </a:r>
                      <a:endParaRPr lang="en-IN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XML allows structured data to be shared between different platforms and programming languages.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Bank transaction data sent between client and server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265553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Web Services</a:t>
                      </a:r>
                      <a:endParaRPr lang="en-IN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XML is the core format for SOAP messages and service communication in web services.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SOAP API for online payment gateway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235478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Configuration Files</a:t>
                      </a:r>
                      <a:endParaRPr lang="en-IN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XML stores application settings and configurations in a readable and structured format.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web.xml</a:t>
                      </a:r>
                      <a:r>
                        <a:rPr lang="en-GB" sz="1400"/>
                        <a:t> in Java web applications, Spring configuration files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272655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Document Representation</a:t>
                      </a:r>
                      <a:endParaRPr lang="en-IN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XML is used to structure and store documents in a platform-independent way.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Office documents (DOCX), RSS feeds, technical manuals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719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3059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0684A-29CA-3E6E-C735-F8D8C800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XML and HTML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D6AC5A-4300-1CB4-9453-E5BCDF4657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758532"/>
              </p:ext>
            </p:extLst>
          </p:nvPr>
        </p:nvGraphicFramePr>
        <p:xfrm>
          <a:off x="920496" y="16238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286673228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34968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XML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HTML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406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Used to store and transport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to display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732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Focuses on data 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Focuses on data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36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User-defined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Predefined tags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831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Strict syntax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Flexible syntax rules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2213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Case-sensitive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case-sensitive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698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Data-oriented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Presentation-oriented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186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Used in data exchange and web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Used to create web pages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7950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2E9ACCF-87BE-78E7-BED6-3BE5B8A7508D}"/>
              </a:ext>
            </a:extLst>
          </p:cNvPr>
          <p:cNvSpPr txBox="1"/>
          <p:nvPr/>
        </p:nvSpPr>
        <p:spPr>
          <a:xfrm>
            <a:off x="838200" y="4886236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HTML - “What you see”</a:t>
            </a:r>
          </a:p>
          <a:p>
            <a:r>
              <a:rPr lang="en-IN" dirty="0"/>
              <a:t>CSS  -  “How it looks”</a:t>
            </a:r>
          </a:p>
          <a:p>
            <a:r>
              <a:rPr lang="en-IN" dirty="0"/>
              <a:t>JavaScript -  “How it behaves”</a:t>
            </a:r>
          </a:p>
          <a:p>
            <a:r>
              <a:rPr lang="en-IN" dirty="0"/>
              <a:t>XML - “What data is exchanged”</a:t>
            </a:r>
          </a:p>
        </p:txBody>
      </p:sp>
    </p:spTree>
    <p:extLst>
      <p:ext uri="{BB962C8B-B14F-4D97-AF65-F5344CB8AC3E}">
        <p14:creationId xmlns:p14="http://schemas.microsoft.com/office/powerpoint/2010/main" val="56201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8B9A-C1BC-02C6-074F-EE700339C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Externally linking XML to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E7495-AEB8-063D-7242-481E61637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&lt;script&gt;</a:t>
            </a:r>
          </a:p>
          <a:p>
            <a:pPr marL="0" indent="0">
              <a:buNone/>
            </a:pPr>
            <a:r>
              <a:rPr lang="en-IN" dirty="0"/>
              <a:t>        // Load XML using JS</a:t>
            </a:r>
          </a:p>
          <a:p>
            <a:pPr marL="0" indent="0">
              <a:buNone/>
            </a:pPr>
            <a:r>
              <a:rPr lang="en-IN" dirty="0"/>
              <a:t>        let </a:t>
            </a:r>
            <a:r>
              <a:rPr lang="en-IN" dirty="0" err="1"/>
              <a:t>xhr</a:t>
            </a:r>
            <a:r>
              <a:rPr lang="en-IN" dirty="0"/>
              <a:t> = new </a:t>
            </a:r>
            <a:r>
              <a:rPr lang="en-IN" dirty="0" err="1"/>
              <a:t>XMLHttpRequest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xhr.open</a:t>
            </a:r>
            <a:r>
              <a:rPr lang="en-IN" dirty="0"/>
              <a:t>("GET", "students.xml", false); // synchronous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xhr.send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let </a:t>
            </a:r>
            <a:r>
              <a:rPr lang="en-IN" dirty="0" err="1"/>
              <a:t>xmlDoc</a:t>
            </a:r>
            <a:r>
              <a:rPr lang="en-IN" dirty="0"/>
              <a:t> = </a:t>
            </a:r>
            <a:r>
              <a:rPr lang="en-IN" dirty="0" err="1"/>
              <a:t>xhr.responseXML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let students = </a:t>
            </a:r>
            <a:r>
              <a:rPr lang="en-IN" dirty="0" err="1"/>
              <a:t>xmlDoc.getElementsByTagName</a:t>
            </a:r>
            <a:r>
              <a:rPr lang="en-IN" dirty="0"/>
              <a:t>("student");</a:t>
            </a:r>
          </a:p>
          <a:p>
            <a:pPr marL="0" indent="0">
              <a:buNone/>
            </a:pPr>
            <a:r>
              <a:rPr lang="en-IN" dirty="0"/>
              <a:t>        let ul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studentList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    for (let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students.length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    let li = </a:t>
            </a:r>
            <a:r>
              <a:rPr lang="en-IN" dirty="0" err="1"/>
              <a:t>document.createElement</a:t>
            </a:r>
            <a:r>
              <a:rPr lang="en-IN" dirty="0"/>
              <a:t>("li");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li.textContent</a:t>
            </a:r>
            <a:r>
              <a:rPr lang="en-IN" dirty="0"/>
              <a:t> = students[</a:t>
            </a:r>
            <a:r>
              <a:rPr lang="en-IN" dirty="0" err="1"/>
              <a:t>i</a:t>
            </a:r>
            <a:r>
              <a:rPr lang="en-IN" dirty="0"/>
              <a:t>].</a:t>
            </a:r>
            <a:r>
              <a:rPr lang="en-IN" dirty="0" err="1"/>
              <a:t>getElementsByTagName</a:t>
            </a:r>
            <a:r>
              <a:rPr lang="en-IN" dirty="0"/>
              <a:t>("name")[0].</a:t>
            </a:r>
            <a:r>
              <a:rPr lang="en-IN" dirty="0" err="1"/>
              <a:t>childNodes</a:t>
            </a:r>
            <a:r>
              <a:rPr lang="en-IN" dirty="0"/>
              <a:t>[0].</a:t>
            </a:r>
            <a:r>
              <a:rPr lang="en-IN" dirty="0" err="1"/>
              <a:t>nodeValue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ul.appendChild</a:t>
            </a:r>
            <a:r>
              <a:rPr lang="en-IN" dirty="0"/>
              <a:t>(li);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2906804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C420-6918-3AB1-2456-8EC066498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Embedding XML to 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BB9F-5AB0-2B64-A873-ECC1CB37F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        let </a:t>
            </a:r>
            <a:r>
              <a:rPr lang="en-IN" dirty="0" err="1"/>
              <a:t>xmlData</a:t>
            </a:r>
            <a:r>
              <a:rPr lang="en-IN" dirty="0"/>
              <a:t>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xmlData</a:t>
            </a:r>
            <a:r>
              <a:rPr lang="en-IN" dirty="0"/>
              <a:t>").</a:t>
            </a:r>
            <a:r>
              <a:rPr lang="en-IN" dirty="0" err="1"/>
              <a:t>textContent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let parser = new </a:t>
            </a:r>
            <a:r>
              <a:rPr lang="en-IN" dirty="0" err="1"/>
              <a:t>DOMParser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let </a:t>
            </a:r>
            <a:r>
              <a:rPr lang="en-IN" dirty="0" err="1"/>
              <a:t>xmlDoc</a:t>
            </a:r>
            <a:r>
              <a:rPr lang="en-IN" dirty="0"/>
              <a:t> = </a:t>
            </a:r>
            <a:r>
              <a:rPr lang="en-IN" dirty="0" err="1"/>
              <a:t>parser.parseFromString</a:t>
            </a:r>
            <a:r>
              <a:rPr lang="en-IN" dirty="0"/>
              <a:t>(</a:t>
            </a:r>
            <a:r>
              <a:rPr lang="en-IN" dirty="0" err="1"/>
              <a:t>xmlData</a:t>
            </a:r>
            <a:r>
              <a:rPr lang="en-IN" dirty="0"/>
              <a:t>, "text/xml");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let students = </a:t>
            </a:r>
            <a:r>
              <a:rPr lang="en-IN" dirty="0" err="1"/>
              <a:t>xmlDoc.getElementsByTagName</a:t>
            </a:r>
            <a:r>
              <a:rPr lang="en-IN" dirty="0"/>
              <a:t>("student");</a:t>
            </a:r>
          </a:p>
          <a:p>
            <a:pPr marL="0" indent="0">
              <a:buNone/>
            </a:pPr>
            <a:r>
              <a:rPr lang="en-IN" dirty="0"/>
              <a:t>        let ul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studentList</a:t>
            </a:r>
            <a:r>
              <a:rPr lang="en-IN" dirty="0"/>
              <a:t>");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for (let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students.length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          let li = </a:t>
            </a:r>
            <a:r>
              <a:rPr lang="en-IN" dirty="0" err="1"/>
              <a:t>document.createElement</a:t>
            </a:r>
            <a:r>
              <a:rPr lang="en-IN" dirty="0"/>
              <a:t>("li");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li.textContent</a:t>
            </a:r>
            <a:r>
              <a:rPr lang="en-IN" dirty="0"/>
              <a:t> = students[</a:t>
            </a:r>
            <a:r>
              <a:rPr lang="en-IN" dirty="0" err="1"/>
              <a:t>i</a:t>
            </a:r>
            <a:r>
              <a:rPr lang="en-IN" dirty="0"/>
              <a:t>].</a:t>
            </a:r>
            <a:r>
              <a:rPr lang="en-IN" dirty="0" err="1"/>
              <a:t>getElementsByTagName</a:t>
            </a:r>
            <a:r>
              <a:rPr lang="en-IN" dirty="0"/>
              <a:t>("name")[0].</a:t>
            </a:r>
            <a:r>
              <a:rPr lang="en-IN" dirty="0" err="1"/>
              <a:t>childNodes</a:t>
            </a:r>
            <a:r>
              <a:rPr lang="en-IN" dirty="0"/>
              <a:t>[0].</a:t>
            </a:r>
            <a:r>
              <a:rPr lang="en-IN" dirty="0" err="1"/>
              <a:t>nodeValue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ul.appendChild</a:t>
            </a:r>
            <a:r>
              <a:rPr lang="en-IN" dirty="0"/>
              <a:t>(li);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24141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94C18-AA5B-BFA4-1408-F046F474F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we need XML when there is JS already?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95A7C1-7F8E-CC1A-B5E7-F8322D6993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9422755"/>
              </p:ext>
            </p:extLst>
          </p:nvPr>
        </p:nvGraphicFramePr>
        <p:xfrm>
          <a:off x="838200" y="2560320"/>
          <a:ext cx="10515600" cy="1737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12436382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47656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JS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XML + 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26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and logic are </a:t>
                      </a:r>
                      <a:r>
                        <a:rPr lang="en-GB" b="1"/>
                        <a:t>together</a:t>
                      </a:r>
                      <a:r>
                        <a:rPr lang="en-GB"/>
                        <a:t> in JS.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Data is </a:t>
                      </a:r>
                      <a:r>
                        <a:rPr lang="en-GB" b="1" dirty="0"/>
                        <a:t>separate</a:t>
                      </a:r>
                      <a:r>
                        <a:rPr lang="en-GB" dirty="0"/>
                        <a:t> from logic.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891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Harder to update for non-programmers.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Anyone can </a:t>
                      </a:r>
                      <a:r>
                        <a:rPr lang="en-GB" b="1" dirty="0"/>
                        <a:t>update XML</a:t>
                      </a:r>
                      <a:r>
                        <a:rPr lang="en-GB" dirty="0"/>
                        <a:t> without touching code.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28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If JS file changes, data changes must be coded manually.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changes in XML don’t affect JS code.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8539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1442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0022C-A3B4-42FC-797F-31C8CD013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Class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BA5E5-CD84-A6FA-4086-7A2E06E99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000" dirty="0"/>
              <a:t>Create a </a:t>
            </a:r>
            <a:r>
              <a:rPr lang="en-GB" sz="4000" b="1" dirty="0"/>
              <a:t>web page that lists upcoming college events</a:t>
            </a:r>
            <a:r>
              <a:rPr lang="en-GB" sz="4000" dirty="0"/>
              <a:t> stored in an XML file. Display events using JavaScript and style the page with CSS.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351826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DF30-2AE0-EF1A-9E4E-E205F77B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DBB5B-DF83-F385-7039-AB376CB8B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dirty="0"/>
              <a:t>&lt;?xml version="1.0" encoding="UTF-8"?&gt;</a:t>
            </a:r>
          </a:p>
          <a:p>
            <a:pPr marL="0" indent="0">
              <a:buNone/>
            </a:pPr>
            <a:r>
              <a:rPr lang="en-GB" dirty="0"/>
              <a:t>&lt;events&gt;</a:t>
            </a:r>
          </a:p>
          <a:p>
            <a:pPr marL="0" indent="0">
              <a:buNone/>
            </a:pPr>
            <a:r>
              <a:rPr lang="en-GB" dirty="0"/>
              <a:t>    &lt;event&gt;</a:t>
            </a:r>
          </a:p>
          <a:p>
            <a:pPr marL="0" indent="0">
              <a:buNone/>
            </a:pPr>
            <a:r>
              <a:rPr lang="en-GB" dirty="0"/>
              <a:t>        &lt;name&gt;College Orientation&lt;/name&gt;</a:t>
            </a:r>
          </a:p>
          <a:p>
            <a:pPr marL="0" indent="0">
              <a:buNone/>
            </a:pPr>
            <a:r>
              <a:rPr lang="en-GB" dirty="0"/>
              <a:t>        &lt;date&gt;2026-01-10&lt;/date&gt;</a:t>
            </a:r>
          </a:p>
          <a:p>
            <a:pPr marL="0" indent="0">
              <a:buNone/>
            </a:pPr>
            <a:r>
              <a:rPr lang="en-GB" dirty="0"/>
              <a:t>    &lt;/event&gt;</a:t>
            </a:r>
          </a:p>
          <a:p>
            <a:pPr marL="0" indent="0">
              <a:buNone/>
            </a:pPr>
            <a:r>
              <a:rPr lang="en-GB" dirty="0"/>
              <a:t>    &lt;event&gt;</a:t>
            </a:r>
          </a:p>
          <a:p>
            <a:pPr marL="0" indent="0">
              <a:buNone/>
            </a:pPr>
            <a:r>
              <a:rPr lang="en-GB" dirty="0"/>
              <a:t>        &lt;name&gt;Science Fest&lt;/name&gt;</a:t>
            </a:r>
          </a:p>
          <a:p>
            <a:pPr marL="0" indent="0">
              <a:buNone/>
            </a:pPr>
            <a:r>
              <a:rPr lang="en-GB" dirty="0"/>
              <a:t>        &lt;date&gt;2026-02-05&lt;/date&gt;</a:t>
            </a:r>
          </a:p>
          <a:p>
            <a:pPr marL="0" indent="0">
              <a:buNone/>
            </a:pPr>
            <a:r>
              <a:rPr lang="en-GB" dirty="0"/>
              <a:t>    &lt;/event&gt;</a:t>
            </a:r>
          </a:p>
          <a:p>
            <a:pPr marL="0" indent="0">
              <a:buNone/>
            </a:pPr>
            <a:r>
              <a:rPr lang="en-GB" dirty="0"/>
              <a:t>    &lt;event&gt;</a:t>
            </a:r>
          </a:p>
          <a:p>
            <a:pPr marL="0" indent="0">
              <a:buNone/>
            </a:pPr>
            <a:r>
              <a:rPr lang="en-GB" dirty="0"/>
              <a:t>        &lt;name&gt;Sports Day&lt;/name&gt;</a:t>
            </a:r>
          </a:p>
          <a:p>
            <a:pPr marL="0" indent="0">
              <a:buNone/>
            </a:pPr>
            <a:r>
              <a:rPr lang="en-GB" dirty="0"/>
              <a:t>        &lt;date&gt;2026-03-15&lt;/date&gt;</a:t>
            </a:r>
          </a:p>
          <a:p>
            <a:pPr marL="0" indent="0">
              <a:buNone/>
            </a:pPr>
            <a:r>
              <a:rPr lang="en-GB" dirty="0"/>
              <a:t>    &lt;/event&gt;</a:t>
            </a:r>
          </a:p>
          <a:p>
            <a:pPr marL="0" indent="0">
              <a:buNone/>
            </a:pPr>
            <a:r>
              <a:rPr lang="en-GB" dirty="0"/>
              <a:t>&lt;/events&gt;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48790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80E0-9EE2-1E48-B135-5D12F021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HTML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A7E6B-E385-2E16-0C3A-7449EA6D5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</a:t>
            </a:r>
          </a:p>
          <a:p>
            <a:pPr marL="0" indent="0">
              <a:buNone/>
            </a:pPr>
            <a:r>
              <a:rPr lang="en-IN" dirty="0"/>
              <a:t>    &lt;title&gt;College Events&lt;/title&gt;</a:t>
            </a:r>
          </a:p>
          <a:p>
            <a:pPr marL="0" indent="0">
              <a:buNone/>
            </a:pPr>
            <a:r>
              <a:rPr lang="en-IN" dirty="0"/>
              <a:t>    &lt;link </a:t>
            </a:r>
            <a:r>
              <a:rPr lang="en-IN" dirty="0" err="1"/>
              <a:t>rel</a:t>
            </a:r>
            <a:r>
              <a:rPr lang="en-IN" dirty="0"/>
              <a:t>="stylesheet" </a:t>
            </a:r>
            <a:r>
              <a:rPr lang="en-IN" dirty="0" err="1"/>
              <a:t>href</a:t>
            </a:r>
            <a:r>
              <a:rPr lang="en-IN" dirty="0"/>
              <a:t>="style.css"&gt;</a:t>
            </a:r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    &lt;h1&gt;Upcoming College Events&lt;/h1&gt;</a:t>
            </a:r>
          </a:p>
          <a:p>
            <a:pPr marL="0" indent="0">
              <a:buNone/>
            </a:pPr>
            <a:r>
              <a:rPr lang="en-IN" dirty="0"/>
              <a:t>    &lt;ul id="</a:t>
            </a:r>
            <a:r>
              <a:rPr lang="en-IN" dirty="0" err="1"/>
              <a:t>eventList</a:t>
            </a:r>
            <a:r>
              <a:rPr lang="en-IN" dirty="0"/>
              <a:t>"&gt;&lt;/ul&gt;</a:t>
            </a:r>
          </a:p>
          <a:p>
            <a:pPr marL="0" indent="0">
              <a:buNone/>
            </a:pPr>
            <a:r>
              <a:rPr lang="en-IN" dirty="0"/>
              <a:t>    &lt;script </a:t>
            </a:r>
            <a:r>
              <a:rPr lang="en-IN" dirty="0" err="1"/>
              <a:t>src</a:t>
            </a:r>
            <a:r>
              <a:rPr lang="en-IN" dirty="0"/>
              <a:t>="script.js"&gt;&lt;/script&gt;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8934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6C4B4-770B-61C8-8366-E519B775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EA49D-794E-DD50-9BB9-508276DC7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body {</a:t>
            </a:r>
          </a:p>
          <a:p>
            <a:pPr marL="0" indent="0">
              <a:buNone/>
            </a:pPr>
            <a:r>
              <a:rPr lang="en-IN" dirty="0"/>
              <a:t>    font-family: Arial, sans-serif;</a:t>
            </a:r>
          </a:p>
          <a:p>
            <a:pPr marL="0" indent="0">
              <a:buNone/>
            </a:pPr>
            <a:r>
              <a:rPr lang="en-IN" dirty="0"/>
              <a:t>    text-align: </a:t>
            </a:r>
            <a:r>
              <a:rPr lang="en-IN" dirty="0" err="1"/>
              <a:t>center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margin-top: 30px;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h1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color</a:t>
            </a:r>
            <a:r>
              <a:rPr lang="en-IN" dirty="0"/>
              <a:t>: #FF6347;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li {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color</a:t>
            </a:r>
            <a:r>
              <a:rPr lang="en-IN" dirty="0"/>
              <a:t>: #2E8B57;</a:t>
            </a:r>
          </a:p>
          <a:p>
            <a:pPr marL="0" indent="0">
              <a:buNone/>
            </a:pPr>
            <a:r>
              <a:rPr lang="en-IN" dirty="0"/>
              <a:t>    font-size: 18px;</a:t>
            </a:r>
          </a:p>
          <a:p>
            <a:pPr marL="0" indent="0">
              <a:buNone/>
            </a:pPr>
            <a:r>
              <a:rPr lang="en-IN" dirty="0"/>
              <a:t>    margin: 5px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4296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27CF-5620-7FE3-23D0-FB7CF46E4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23179-45CE-C7B7-CD37-3F91363CB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1359280"/>
            <a:ext cx="10594848" cy="48769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000" dirty="0"/>
              <a:t>let </a:t>
            </a:r>
            <a:r>
              <a:rPr lang="en-IN" sz="6000" dirty="0" err="1"/>
              <a:t>xhr</a:t>
            </a:r>
            <a:r>
              <a:rPr lang="en-IN" sz="6000" dirty="0"/>
              <a:t> = new </a:t>
            </a:r>
            <a:r>
              <a:rPr lang="en-IN" sz="6000" dirty="0" err="1"/>
              <a:t>XMLHttpRequest</a:t>
            </a:r>
            <a:r>
              <a:rPr lang="en-IN" sz="6000" dirty="0"/>
              <a:t>();</a:t>
            </a:r>
          </a:p>
          <a:p>
            <a:pPr marL="0" indent="0">
              <a:buNone/>
            </a:pPr>
            <a:r>
              <a:rPr lang="en-IN" sz="6000" dirty="0" err="1"/>
              <a:t>xhr.open</a:t>
            </a:r>
            <a:r>
              <a:rPr lang="en-IN" sz="6000" dirty="0"/>
              <a:t>("GET", "events.xml", false);</a:t>
            </a:r>
          </a:p>
          <a:p>
            <a:pPr marL="0" indent="0">
              <a:buNone/>
            </a:pPr>
            <a:r>
              <a:rPr lang="en-IN" sz="6000" dirty="0" err="1"/>
              <a:t>xhr.send</a:t>
            </a:r>
            <a:r>
              <a:rPr lang="en-IN" sz="6000" dirty="0"/>
              <a:t>();</a:t>
            </a:r>
          </a:p>
          <a:p>
            <a:pPr marL="0" indent="0">
              <a:buNone/>
            </a:pPr>
            <a:endParaRPr lang="en-IN" sz="6000" dirty="0"/>
          </a:p>
          <a:p>
            <a:pPr marL="0" indent="0">
              <a:buNone/>
            </a:pPr>
            <a:r>
              <a:rPr lang="en-IN" sz="6000" dirty="0"/>
              <a:t>let </a:t>
            </a:r>
            <a:r>
              <a:rPr lang="en-IN" sz="6000" dirty="0" err="1"/>
              <a:t>xmlDoc</a:t>
            </a:r>
            <a:r>
              <a:rPr lang="en-IN" sz="6000" dirty="0"/>
              <a:t> = </a:t>
            </a:r>
            <a:r>
              <a:rPr lang="en-IN" sz="6000" dirty="0" err="1"/>
              <a:t>xhr.responseXML</a:t>
            </a:r>
            <a:r>
              <a:rPr lang="en-IN" sz="6000" dirty="0"/>
              <a:t>;</a:t>
            </a:r>
          </a:p>
          <a:p>
            <a:pPr marL="0" indent="0">
              <a:buNone/>
            </a:pPr>
            <a:r>
              <a:rPr lang="en-IN" sz="6000" dirty="0"/>
              <a:t>let events = </a:t>
            </a:r>
            <a:r>
              <a:rPr lang="en-IN" sz="6000" dirty="0" err="1"/>
              <a:t>xmlDoc.getElementsByTagName</a:t>
            </a:r>
            <a:r>
              <a:rPr lang="en-IN" sz="6000" dirty="0"/>
              <a:t>("event");</a:t>
            </a:r>
          </a:p>
          <a:p>
            <a:pPr marL="0" indent="0">
              <a:buNone/>
            </a:pPr>
            <a:endParaRPr lang="en-IN" sz="6000" dirty="0"/>
          </a:p>
          <a:p>
            <a:pPr marL="0" indent="0">
              <a:buNone/>
            </a:pPr>
            <a:r>
              <a:rPr lang="en-IN" sz="6000" dirty="0"/>
              <a:t>let ul = </a:t>
            </a:r>
            <a:r>
              <a:rPr lang="en-IN" sz="6000" dirty="0" err="1"/>
              <a:t>document.getElementById</a:t>
            </a:r>
            <a:r>
              <a:rPr lang="en-IN" sz="6000" dirty="0"/>
              <a:t>("</a:t>
            </a:r>
            <a:r>
              <a:rPr lang="en-IN" sz="6000" dirty="0" err="1"/>
              <a:t>eventList</a:t>
            </a:r>
            <a:r>
              <a:rPr lang="en-IN" sz="6000" dirty="0"/>
              <a:t>");</a:t>
            </a:r>
          </a:p>
          <a:p>
            <a:pPr marL="0" indent="0">
              <a:buNone/>
            </a:pPr>
            <a:endParaRPr lang="en-IN" sz="6000" dirty="0"/>
          </a:p>
          <a:p>
            <a:pPr marL="0" indent="0">
              <a:buNone/>
            </a:pPr>
            <a:r>
              <a:rPr lang="en-IN" sz="6000" dirty="0"/>
              <a:t>for (let </a:t>
            </a:r>
            <a:r>
              <a:rPr lang="en-IN" sz="6000" dirty="0" err="1"/>
              <a:t>i</a:t>
            </a:r>
            <a:r>
              <a:rPr lang="en-IN" sz="6000" dirty="0"/>
              <a:t> = 0; </a:t>
            </a:r>
            <a:r>
              <a:rPr lang="en-IN" sz="6000" dirty="0" err="1"/>
              <a:t>i</a:t>
            </a:r>
            <a:r>
              <a:rPr lang="en-IN" sz="6000" dirty="0"/>
              <a:t> &lt; </a:t>
            </a:r>
            <a:r>
              <a:rPr lang="en-IN" sz="6000" dirty="0" err="1"/>
              <a:t>events.length</a:t>
            </a:r>
            <a:r>
              <a:rPr lang="en-IN" sz="6000" dirty="0"/>
              <a:t>; </a:t>
            </a:r>
            <a:r>
              <a:rPr lang="en-IN" sz="6000" dirty="0" err="1"/>
              <a:t>i</a:t>
            </a:r>
            <a:r>
              <a:rPr lang="en-IN" sz="6000" dirty="0"/>
              <a:t>++) {</a:t>
            </a:r>
          </a:p>
          <a:p>
            <a:pPr marL="0" indent="0">
              <a:buNone/>
            </a:pPr>
            <a:r>
              <a:rPr lang="en-IN" sz="6000" dirty="0"/>
              <a:t>    let name = events[</a:t>
            </a:r>
            <a:r>
              <a:rPr lang="en-IN" sz="6000" dirty="0" err="1"/>
              <a:t>i</a:t>
            </a:r>
            <a:r>
              <a:rPr lang="en-IN" sz="6000" dirty="0"/>
              <a:t>].</a:t>
            </a:r>
            <a:r>
              <a:rPr lang="en-IN" sz="6000" dirty="0" err="1"/>
              <a:t>getElementsByTagName</a:t>
            </a:r>
            <a:r>
              <a:rPr lang="en-IN" sz="6000" dirty="0"/>
              <a:t>("name")[0].</a:t>
            </a:r>
            <a:r>
              <a:rPr lang="en-IN" sz="6000" dirty="0" err="1"/>
              <a:t>childNodes</a:t>
            </a:r>
            <a:r>
              <a:rPr lang="en-IN" sz="6000" dirty="0"/>
              <a:t>[0].</a:t>
            </a:r>
            <a:r>
              <a:rPr lang="en-IN" sz="6000" dirty="0" err="1"/>
              <a:t>nodeValue</a:t>
            </a:r>
            <a:r>
              <a:rPr lang="en-IN" sz="6000" dirty="0"/>
              <a:t>;</a:t>
            </a:r>
          </a:p>
          <a:p>
            <a:pPr marL="0" indent="0">
              <a:buNone/>
            </a:pPr>
            <a:r>
              <a:rPr lang="en-IN" sz="6000" dirty="0"/>
              <a:t>    let date = events[</a:t>
            </a:r>
            <a:r>
              <a:rPr lang="en-IN" sz="6000" dirty="0" err="1"/>
              <a:t>i</a:t>
            </a:r>
            <a:r>
              <a:rPr lang="en-IN" sz="6000" dirty="0"/>
              <a:t>].</a:t>
            </a:r>
            <a:r>
              <a:rPr lang="en-IN" sz="6000" dirty="0" err="1"/>
              <a:t>getElementsByTagName</a:t>
            </a:r>
            <a:r>
              <a:rPr lang="en-IN" sz="6000" dirty="0"/>
              <a:t>("date")[0].</a:t>
            </a:r>
            <a:r>
              <a:rPr lang="en-IN" sz="6000" dirty="0" err="1"/>
              <a:t>childNodes</a:t>
            </a:r>
            <a:r>
              <a:rPr lang="en-IN" sz="6000" dirty="0"/>
              <a:t>[0].</a:t>
            </a:r>
            <a:r>
              <a:rPr lang="en-IN" sz="6000" dirty="0" err="1"/>
              <a:t>nodeValue</a:t>
            </a:r>
            <a:r>
              <a:rPr lang="en-IN" sz="6000" dirty="0"/>
              <a:t>;</a:t>
            </a:r>
          </a:p>
          <a:p>
            <a:pPr marL="0" indent="0">
              <a:buNone/>
            </a:pPr>
            <a:endParaRPr lang="en-IN" sz="6000" dirty="0"/>
          </a:p>
          <a:p>
            <a:pPr marL="0" indent="0">
              <a:buNone/>
            </a:pPr>
            <a:r>
              <a:rPr lang="en-IN" sz="6000" dirty="0"/>
              <a:t>    let li = </a:t>
            </a:r>
            <a:r>
              <a:rPr lang="en-IN" sz="6000" dirty="0" err="1"/>
              <a:t>document.createElement</a:t>
            </a:r>
            <a:r>
              <a:rPr lang="en-IN" sz="6000" dirty="0"/>
              <a:t>("li");</a:t>
            </a:r>
          </a:p>
          <a:p>
            <a:pPr marL="0" indent="0">
              <a:buNone/>
            </a:pPr>
            <a:r>
              <a:rPr lang="en-IN" sz="6000" dirty="0"/>
              <a:t>    </a:t>
            </a:r>
            <a:r>
              <a:rPr lang="en-IN" sz="6000" dirty="0" err="1"/>
              <a:t>li.textContent</a:t>
            </a:r>
            <a:r>
              <a:rPr lang="en-IN" sz="6000" dirty="0"/>
              <a:t> = `${name} - ${date}`;</a:t>
            </a:r>
          </a:p>
          <a:p>
            <a:pPr marL="0" indent="0">
              <a:buNone/>
            </a:pPr>
            <a:r>
              <a:rPr lang="en-IN" sz="6000" dirty="0"/>
              <a:t>    </a:t>
            </a:r>
            <a:r>
              <a:rPr lang="en-IN" sz="6000" dirty="0" err="1"/>
              <a:t>ul.appendChild</a:t>
            </a:r>
            <a:r>
              <a:rPr lang="en-IN" sz="6000" dirty="0"/>
              <a:t>(li);</a:t>
            </a:r>
          </a:p>
          <a:p>
            <a:pPr marL="0" indent="0">
              <a:buNone/>
            </a:pPr>
            <a:r>
              <a:rPr lang="en-IN" sz="6000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22670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1126-2CC6-82DD-3246-DE8F6C4BB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– JavaScript Object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370C-EFDB-FD8D-F8C4-26231D249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Lightweight text based standardized data interchange format</a:t>
            </a:r>
          </a:p>
          <a:p>
            <a:r>
              <a:rPr lang="en-IN" dirty="0"/>
              <a:t>Used for storing and exchanging data between client and server</a:t>
            </a:r>
          </a:p>
          <a:p>
            <a:r>
              <a:rPr lang="en-IN" dirty="0"/>
              <a:t>Derived from JavaScript Object Syntax</a:t>
            </a:r>
          </a:p>
          <a:p>
            <a:r>
              <a:rPr lang="en-IN" dirty="0"/>
              <a:t>Represents data as  Key (always string) – Value pairs (can be string, arrays, objects, numbers, </a:t>
            </a:r>
            <a:r>
              <a:rPr lang="en-IN" dirty="0" err="1"/>
              <a:t>boolean</a:t>
            </a:r>
            <a:r>
              <a:rPr lang="en-IN" dirty="0"/>
              <a:t>)</a:t>
            </a:r>
          </a:p>
          <a:p>
            <a:r>
              <a:rPr lang="en-IN" dirty="0"/>
              <a:t>Lightweight when compared to XML</a:t>
            </a:r>
          </a:p>
          <a:p>
            <a:r>
              <a:rPr lang="en-IN" dirty="0"/>
              <a:t>{ "name": "Arun" } Vs &lt;name&gt;Arun&lt;/name&gt;</a:t>
            </a:r>
          </a:p>
          <a:p>
            <a:r>
              <a:rPr lang="en-GB" dirty="0"/>
              <a:t>JSON is the default data format for RESTful APIs (lightweight and compact &amp; easy to parse and generate due to direct mapping of JavaScript Object)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07629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E42C-7D06-4A0C-6862-D381EBF1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from Server to Client</a:t>
            </a:r>
          </a:p>
        </p:txBody>
      </p:sp>
      <p:pic>
        <p:nvPicPr>
          <p:cNvPr id="9" name="Content Placeholder 8" descr="A diagram of a server and client&#10;&#10;AI-generated content may be incorrect.">
            <a:extLst>
              <a:ext uri="{FF2B5EF4-FFF2-40B4-BE49-F238E27FC236}">
                <a16:creationId xmlns:a16="http://schemas.microsoft.com/office/drawing/2014/main" id="{5A5F562E-66FE-3313-C5FD-8376936AE0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62712" y="1753830"/>
            <a:ext cx="5817424" cy="347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413849-F68D-4291-FFBB-265CEB94D4B4}"/>
              </a:ext>
            </a:extLst>
          </p:cNvPr>
          <p:cNvSpPr txBox="1"/>
          <p:nvPr/>
        </p:nvSpPr>
        <p:spPr>
          <a:xfrm>
            <a:off x="6275070" y="1560886"/>
            <a:ext cx="547497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spcAft>
                <a:spcPts val="750"/>
              </a:spcAft>
              <a:buNone/>
            </a:pPr>
            <a:r>
              <a:rPr lang="en-GB" sz="1800" b="0" i="0" dirty="0" err="1">
                <a:effectLst/>
                <a:latin typeface="Nunito" pitchFamily="2" charset="0"/>
              </a:rPr>
              <a:t>const</a:t>
            </a:r>
            <a:r>
              <a:rPr lang="en-GB" sz="1800" b="0" i="0" dirty="0">
                <a:effectLst/>
                <a:latin typeface="Nunito" pitchFamily="2" charset="0"/>
              </a:rPr>
              <a:t> </a:t>
            </a:r>
            <a:r>
              <a:rPr lang="en-GB" sz="1800" b="0" i="0" dirty="0" err="1">
                <a:effectLst/>
                <a:latin typeface="Nunito" pitchFamily="2" charset="0"/>
              </a:rPr>
              <a:t>jsonString</a:t>
            </a:r>
            <a:r>
              <a:rPr lang="en-GB" sz="1800" b="0" i="0" dirty="0">
                <a:effectLst/>
                <a:latin typeface="Nunito" pitchFamily="2" charset="0"/>
              </a:rPr>
              <a:t> = '{"</a:t>
            </a:r>
            <a:r>
              <a:rPr lang="en-GB" sz="1800" b="0" i="0" dirty="0" err="1">
                <a:effectLst/>
                <a:latin typeface="Nunito" pitchFamily="2" charset="0"/>
              </a:rPr>
              <a:t>name":"Mohit</a:t>
            </a:r>
            <a:r>
              <a:rPr lang="en-GB" sz="1800" b="0" i="0" dirty="0">
                <a:effectLst/>
                <a:latin typeface="Nunito" pitchFamily="2" charset="0"/>
              </a:rPr>
              <a:t>", "age":30}’;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GB" dirty="0">
                <a:latin typeface="+mj-lt"/>
              </a:rPr>
              <a:t>This string is received from Server</a:t>
            </a:r>
            <a:r>
              <a:rPr lang="en-GB" dirty="0">
                <a:latin typeface="Nunito" pitchFamily="2" charset="0"/>
              </a:rPr>
              <a:t>.</a:t>
            </a:r>
          </a:p>
          <a:p>
            <a:pPr algn="l" fontAlgn="base">
              <a:spcAft>
                <a:spcPts val="750"/>
              </a:spcAft>
              <a:buNone/>
            </a:pPr>
            <a:endParaRPr lang="en-GB" sz="1800" b="0" i="0" dirty="0">
              <a:effectLst/>
              <a:latin typeface="Nunito" pitchFamily="2" charset="0"/>
            </a:endParaRPr>
          </a:p>
          <a:p>
            <a:pPr fontAlgn="base">
              <a:spcAft>
                <a:spcPts val="750"/>
              </a:spcAft>
            </a:pP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jsonS</a:t>
            </a:r>
            <a:r>
              <a:rPr lang="en-IN" dirty="0"/>
              <a:t> = '{"</a:t>
            </a:r>
            <a:r>
              <a:rPr lang="en-IN" dirty="0" err="1"/>
              <a:t>name":"Mohit</a:t>
            </a:r>
            <a:r>
              <a:rPr lang="en-IN" dirty="0"/>
              <a:t>", "age":30}';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 = </a:t>
            </a:r>
            <a:r>
              <a:rPr lang="en-IN" dirty="0" err="1"/>
              <a:t>JSON.parse</a:t>
            </a:r>
            <a:r>
              <a:rPr lang="en-IN" dirty="0"/>
              <a:t>(</a:t>
            </a:r>
            <a:r>
              <a:rPr lang="en-IN" dirty="0" err="1"/>
              <a:t>jsonS</a:t>
            </a:r>
            <a:r>
              <a:rPr lang="en-IN" dirty="0"/>
              <a:t>);</a:t>
            </a:r>
            <a:br>
              <a:rPr lang="en-IN" dirty="0"/>
            </a:br>
            <a:r>
              <a:rPr lang="en-IN" dirty="0"/>
              <a:t>let name = obj.name;</a:t>
            </a:r>
            <a:br>
              <a:rPr lang="en-IN" dirty="0"/>
            </a:br>
            <a:r>
              <a:rPr lang="en-IN" dirty="0"/>
              <a:t>let age = </a:t>
            </a:r>
            <a:r>
              <a:rPr lang="en-IN" dirty="0" err="1"/>
              <a:t>obj.age</a:t>
            </a:r>
            <a:r>
              <a:rPr lang="en-IN" dirty="0"/>
              <a:t>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console.log(`Name: ${name}, Age: ${age}`);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GB" sz="1800" b="0" i="0" dirty="0">
                <a:effectLst/>
                <a:latin typeface="+mj-lt"/>
              </a:rPr>
              <a:t>This is to access the string’s properties – parsing into JS objects</a:t>
            </a:r>
          </a:p>
          <a:p>
            <a:pPr algn="l" fontAlgn="base">
              <a:spcAft>
                <a:spcPts val="750"/>
              </a:spcAft>
              <a:buNone/>
            </a:pPr>
            <a:endParaRPr lang="en-GB" dirty="0">
              <a:latin typeface="+mj-lt"/>
            </a:endParaRPr>
          </a:p>
          <a:p>
            <a:pPr fontAlgn="base">
              <a:spcAft>
                <a:spcPts val="750"/>
              </a:spcAft>
            </a:pPr>
            <a:r>
              <a:rPr lang="en-IN" dirty="0"/>
              <a:t>Name: Mohit, Age: 30</a:t>
            </a:r>
          </a:p>
          <a:p>
            <a:pPr algn="l" fontAlgn="base">
              <a:spcAft>
                <a:spcPts val="750"/>
              </a:spcAft>
              <a:buNone/>
            </a:pPr>
            <a:r>
              <a:rPr lang="en-GB" sz="1800" b="0" i="0" dirty="0">
                <a:effectLst/>
                <a:latin typeface="+mj-lt"/>
              </a:rPr>
              <a:t>This is the text displayed in respective fields of the UI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CAB4808-97AB-6EE8-48B1-37D2B1BD731C}"/>
                  </a:ext>
                </a:extLst>
              </p14:cNvPr>
              <p14:cNvContentPartPr/>
              <p14:nvPr/>
            </p14:nvContentPartPr>
            <p14:xfrm>
              <a:off x="3609144" y="3428136"/>
              <a:ext cx="115560" cy="86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CAB4808-97AB-6EE8-48B1-37D2B1BD73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00144" y="3419496"/>
                <a:ext cx="13320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682C7CB-8891-FEF1-F9CC-1D8B302AFBBD}"/>
                  </a:ext>
                </a:extLst>
              </p14:cNvPr>
              <p14:cNvContentPartPr/>
              <p14:nvPr/>
            </p14:nvContentPartPr>
            <p14:xfrm>
              <a:off x="2694384" y="3419496"/>
              <a:ext cx="76320" cy="108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682C7CB-8891-FEF1-F9CC-1D8B302AFBB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85744" y="3410856"/>
                <a:ext cx="9396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BA6E2C-566B-5C25-A107-0C0906EDBAF2}"/>
                  </a:ext>
                </a:extLst>
              </p14:cNvPr>
              <p14:cNvContentPartPr/>
              <p14:nvPr/>
            </p14:nvContentPartPr>
            <p14:xfrm>
              <a:off x="3666744" y="3428856"/>
              <a:ext cx="52920" cy="8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BA6E2C-566B-5C25-A107-0C0906EDBA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57744" y="3420216"/>
                <a:ext cx="70560" cy="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82593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BA6D-4465-B203-4A25-C41FD42A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A7FFE-15D6-5BE2-F337-67D1F870E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User interacts with web application to make purchase</a:t>
            </a:r>
          </a:p>
          <a:p>
            <a:r>
              <a:rPr lang="en-IN" dirty="0"/>
              <a:t>Application sends the user’s input to the server in </a:t>
            </a:r>
            <a:r>
              <a:rPr lang="en-IN" dirty="0" err="1"/>
              <a:t>JSOn</a:t>
            </a:r>
            <a:r>
              <a:rPr lang="en-IN" dirty="0"/>
              <a:t> format</a:t>
            </a:r>
          </a:p>
          <a:p>
            <a:r>
              <a:rPr lang="en-IN" dirty="0"/>
              <a:t>Server processes the data</a:t>
            </a:r>
          </a:p>
          <a:p>
            <a:r>
              <a:rPr lang="en-IN" dirty="0"/>
              <a:t>Sends back a response in JSON format</a:t>
            </a:r>
          </a:p>
          <a:p>
            <a:r>
              <a:rPr lang="en-IN" dirty="0"/>
              <a:t>Then the data is rendered by the web application</a:t>
            </a:r>
          </a:p>
          <a:p>
            <a:r>
              <a:rPr lang="en-IN" dirty="0"/>
              <a:t>This allows for data exchange between client and server – enhances fast  - dynamic – interactive web experience</a:t>
            </a:r>
          </a:p>
        </p:txBody>
      </p:sp>
    </p:spTree>
    <p:extLst>
      <p:ext uri="{BB962C8B-B14F-4D97-AF65-F5344CB8AC3E}">
        <p14:creationId xmlns:p14="http://schemas.microsoft.com/office/powerpoint/2010/main" val="21017116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41F2-A139-7661-27EF-F40DD1204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Sample Code – Basic JSON Objects, Nested Objects and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8CFD7-BC9A-A32E-306A-FEE7486AE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{"menu":</a:t>
            </a:r>
          </a:p>
          <a:p>
            <a:pPr marL="0" indent="0">
              <a:buNone/>
            </a:pP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"id": "file",</a:t>
            </a:r>
          </a:p>
          <a:p>
            <a:pPr marL="0" indent="0">
              <a:buNone/>
            </a:pPr>
            <a:r>
              <a:rPr lang="en-IN" dirty="0"/>
              <a:t>  "value": "File",</a:t>
            </a:r>
          </a:p>
          <a:p>
            <a:pPr marL="0" indent="0">
              <a:buNone/>
            </a:pPr>
            <a:r>
              <a:rPr lang="en-IN" dirty="0"/>
              <a:t>  "popup": </a:t>
            </a:r>
          </a:p>
          <a:p>
            <a:pPr marL="0" indent="0">
              <a:buNone/>
            </a:pPr>
            <a:r>
              <a:rPr lang="en-IN" dirty="0"/>
              <a:t>{</a:t>
            </a:r>
          </a:p>
          <a:p>
            <a:pPr marL="0" indent="0">
              <a:buNone/>
            </a:pPr>
            <a:r>
              <a:rPr lang="en-IN" dirty="0"/>
              <a:t>    "</a:t>
            </a:r>
            <a:r>
              <a:rPr lang="en-IN" dirty="0" err="1"/>
              <a:t>menuitem</a:t>
            </a:r>
            <a:r>
              <a:rPr lang="en-IN" dirty="0"/>
              <a:t>": [</a:t>
            </a:r>
          </a:p>
          <a:p>
            <a:pPr marL="0" indent="0">
              <a:buNone/>
            </a:pPr>
            <a:r>
              <a:rPr lang="en-IN" dirty="0"/>
              <a:t>      {"value": "New", "onclick": "</a:t>
            </a:r>
            <a:r>
              <a:rPr lang="en-IN" dirty="0" err="1"/>
              <a:t>CreateNewDoc</a:t>
            </a:r>
            <a:r>
              <a:rPr lang="en-IN" dirty="0"/>
              <a:t>()"},</a:t>
            </a:r>
          </a:p>
          <a:p>
            <a:pPr marL="0" indent="0">
              <a:buNone/>
            </a:pPr>
            <a:r>
              <a:rPr lang="en-IN" dirty="0"/>
              <a:t>      {"value": "Open", "onclick": "OpenDoc()"},</a:t>
            </a:r>
          </a:p>
          <a:p>
            <a:pPr marL="0" indent="0">
              <a:buNone/>
            </a:pPr>
            <a:r>
              <a:rPr lang="en-IN" dirty="0"/>
              <a:t>      {"value": "Close", "onclick": "</a:t>
            </a:r>
            <a:r>
              <a:rPr lang="en-IN" dirty="0" err="1"/>
              <a:t>CloseDoc</a:t>
            </a:r>
            <a:r>
              <a:rPr lang="en-IN" dirty="0"/>
              <a:t>()"}</a:t>
            </a:r>
          </a:p>
          <a:p>
            <a:pPr marL="0" indent="0">
              <a:buNone/>
            </a:pPr>
            <a:r>
              <a:rPr lang="en-IN" dirty="0"/>
              <a:t>    ]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  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22303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F7C57-FAED-C0E0-3C7A-D06BED8D9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JSON?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CF785-A46D-814F-8EC1-C1F1BBCBD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Language independent (JavaScript, Java, Python, C#, Go, Ruby)</a:t>
            </a:r>
          </a:p>
          <a:p>
            <a:r>
              <a:rPr lang="en-IN" dirty="0"/>
              <a:t>Ideal format for exchanging data across different programming languages and platforms (web applications, mobile applications, cloud platforms, IoT systems)</a:t>
            </a:r>
          </a:p>
          <a:p>
            <a:r>
              <a:rPr lang="en-IN" dirty="0"/>
              <a:t>Eg: Application written in JAVA can send JSON data to a python application</a:t>
            </a:r>
          </a:p>
          <a:p>
            <a:r>
              <a:rPr lang="en-IN" dirty="0"/>
              <a:t>Mobile Application written in JS can use JSON to communicate with back end server written in PHP</a:t>
            </a:r>
          </a:p>
          <a:p>
            <a:r>
              <a:rPr lang="en-IN" dirty="0"/>
              <a:t>Reason being, both systems can parse and generate in JSON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124892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22EF-AEA7-11AB-33A6-D6B0AD877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JSON Vs HTML Vs XML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F41D-8FF7-668F-C0D9-C669B590B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are predominantly two formats for storing and transmitting data on the web - JSON and XML</a:t>
            </a:r>
          </a:p>
          <a:p>
            <a:r>
              <a:rPr lang="en-IN" dirty="0"/>
              <a:t>JSON – Data storage and transfer - Used in applications that use simple, easy to use data format</a:t>
            </a:r>
          </a:p>
          <a:p>
            <a:r>
              <a:rPr lang="en-IN" dirty="0"/>
              <a:t>XML – General purpose markup language – Similar to JSON – more complex data structure</a:t>
            </a:r>
          </a:p>
          <a:p>
            <a:r>
              <a:rPr lang="en-IN" dirty="0"/>
              <a:t>HTML – Designing the structure of web pages – Used along with CSS and </a:t>
            </a:r>
            <a:r>
              <a:rPr lang="en-IN" dirty="0" err="1"/>
              <a:t>Javascript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120958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85239-6545-3D16-D0D0-B17A6B4B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D93FB-FD3F-7E48-AC63-E1A88A6BB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computer that supplies files or service to the requesting computer over internet is called web server</a:t>
            </a:r>
          </a:p>
          <a:p>
            <a:r>
              <a:rPr lang="en-IN" dirty="0"/>
              <a:t>Request to the web page is sent by the browser to the server</a:t>
            </a:r>
          </a:p>
          <a:p>
            <a:r>
              <a:rPr lang="en-IN" dirty="0"/>
              <a:t>The server will transfer the requested page to the computer over the internet</a:t>
            </a:r>
          </a:p>
          <a:p>
            <a:r>
              <a:rPr lang="en-IN" dirty="0"/>
              <a:t>Example: </a:t>
            </a:r>
            <a:r>
              <a:rPr lang="en-GB" dirty="0"/>
              <a:t>When you open Google, the Google web server sends the Google web page to your browser.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1942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2D7E-E933-641E-0836-213FA58B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Working of a Web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825AF-02BB-26DD-E4E4-0813CDA97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The URL is broken into 3 parts</a:t>
            </a:r>
          </a:p>
          <a:p>
            <a:pPr marL="514350" indent="-514350">
              <a:buAutoNum type="arabicParenR"/>
            </a:pPr>
            <a:r>
              <a:rPr lang="en-IN" dirty="0"/>
              <a:t>The protocol – HTTP/ HTTPS</a:t>
            </a:r>
          </a:p>
          <a:p>
            <a:pPr marL="514350" indent="-514350">
              <a:buAutoNum type="arabicParenR"/>
            </a:pPr>
            <a:r>
              <a:rPr lang="en-IN" dirty="0"/>
              <a:t>The server name – www. abc.com</a:t>
            </a:r>
          </a:p>
          <a:p>
            <a:pPr marL="514350" indent="-514350">
              <a:buAutoNum type="arabicParenR"/>
            </a:pPr>
            <a:r>
              <a:rPr lang="en-IN" dirty="0"/>
              <a:t>The file name ( “web – server.html”)</a:t>
            </a:r>
          </a:p>
          <a:p>
            <a:r>
              <a:rPr lang="en-GB" dirty="0"/>
              <a:t>The user types a website name like www.google.com.</a:t>
            </a:r>
          </a:p>
          <a:p>
            <a:r>
              <a:rPr lang="en-GB" dirty="0"/>
              <a:t>The browser contacts a DNS (Name Server).</a:t>
            </a:r>
          </a:p>
          <a:p>
            <a:r>
              <a:rPr lang="en-GB" dirty="0"/>
              <a:t>The DNS server converts the website name into an IP address.</a:t>
            </a:r>
          </a:p>
          <a:p>
            <a:r>
              <a:rPr lang="en-GB" dirty="0"/>
              <a:t>The browser uses this IP address to contact the web server.</a:t>
            </a:r>
          </a:p>
          <a:p>
            <a:r>
              <a:rPr lang="en-GB" dirty="0"/>
              <a:t>The web server sends the web page back to the browser.</a:t>
            </a:r>
          </a:p>
          <a:p>
            <a:pPr marL="514350" indent="-514350">
              <a:buAutoNum type="arabicParenR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41837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D4-C7B0-433B-2BD8-D0A94154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20350-42A4-6ECF-342E-2B51D253C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Backend services refer to server-side components of a web application</a:t>
            </a:r>
          </a:p>
          <a:p>
            <a:r>
              <a:rPr lang="en-GB" dirty="0"/>
              <a:t>This handles business logic, data processing, authentication and communication with databases - to provide responses to client requests through APIs.</a:t>
            </a:r>
          </a:p>
          <a:p>
            <a:r>
              <a:rPr lang="en-GB" dirty="0"/>
              <a:t>Backend services act as an intermediary between the frontend and the database.</a:t>
            </a:r>
          </a:p>
          <a:p>
            <a:r>
              <a:rPr lang="en-GB" dirty="0"/>
              <a:t>A student management system where the backend handles requests to fetch or update student data, validates the input, interacts with a MongoDB database, checks user permissions and sends responses in JSON format.</a:t>
            </a:r>
          </a:p>
          <a:p>
            <a:r>
              <a:rPr lang="en-GB" dirty="0"/>
              <a:t>Browser → Frontend → Backend Services → Database → Response in JSON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03370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2718-465C-1921-1EBE-980B3349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– Model Control View Architecture</a:t>
            </a:r>
          </a:p>
        </p:txBody>
      </p:sp>
      <p:pic>
        <p:nvPicPr>
          <p:cNvPr id="5" name="Content Placeholder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EAACDF63-8891-AF69-94CE-6AFFD0336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0395" y="2136427"/>
            <a:ext cx="6154009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5472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A11B2-950E-5ABD-608C-77FCF3B0D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579A2-7D5E-29E3-1EEA-7B92CE98A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MVC (Model–View–Controller) is a design pattern used in software and web development to separate concerns in an application.</a:t>
            </a:r>
          </a:p>
          <a:p>
            <a:pPr marL="0" indent="0">
              <a:buNone/>
            </a:pPr>
            <a:r>
              <a:rPr lang="en-GB" b="1" dirty="0"/>
              <a:t>Model – for the logic</a:t>
            </a:r>
          </a:p>
          <a:p>
            <a:r>
              <a:rPr lang="en-GB" dirty="0"/>
              <a:t>Represents the data and business logic.</a:t>
            </a:r>
          </a:p>
          <a:p>
            <a:r>
              <a:rPr lang="en-GB" dirty="0"/>
              <a:t>Interacts with the database to fetch or update data.</a:t>
            </a:r>
          </a:p>
          <a:p>
            <a:r>
              <a:rPr lang="en-GB" dirty="0"/>
              <a:t>Example: In a student management system, the Model contains student details and logic to calculate grades.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50883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E2DBC-F0F2-55A1-13DB-26497128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272AD-070F-C399-058A-3C36BB18B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View – for Display</a:t>
            </a:r>
            <a:endParaRPr lang="en-GB" b="1" dirty="0"/>
          </a:p>
          <a:p>
            <a:r>
              <a:rPr lang="en-GB" dirty="0"/>
              <a:t>Represents the user interface.</a:t>
            </a:r>
          </a:p>
          <a:p>
            <a:r>
              <a:rPr lang="en-GB" dirty="0"/>
              <a:t>Displays data to the user and collects input.</a:t>
            </a:r>
          </a:p>
          <a:p>
            <a:r>
              <a:rPr lang="en-GB" dirty="0"/>
              <a:t>Example: HTML/CSS pages showing student details.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58711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1EEEC-7743-70DE-9165-E635473C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MVC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63F0-789A-56B0-C810-3D8C28E13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Control – to validate and update the view</a:t>
            </a:r>
          </a:p>
          <a:p>
            <a:r>
              <a:rPr lang="en-GB" dirty="0"/>
              <a:t>Acts as a bridge between Model and View.</a:t>
            </a:r>
          </a:p>
          <a:p>
            <a:r>
              <a:rPr lang="en-GB" dirty="0"/>
              <a:t>Handles user input, processes requests, updates model and refresh the page view</a:t>
            </a:r>
          </a:p>
          <a:p>
            <a:r>
              <a:rPr lang="en-GB" dirty="0"/>
              <a:t>Example: When a user submits a form, the Controller validates the input and updates the database through the Model and refresh the display view	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1911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7347C-7C7A-80B0-99B5-BC2B182A3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of MVC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C0BD8-94D0-6947-BE6E-D4C2705E6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User → View → Controller → Model → Controller → View → User</a:t>
            </a:r>
          </a:p>
          <a:p>
            <a:r>
              <a:rPr lang="en-IN" dirty="0"/>
              <a:t>User interacts with the View (UI) – example of </a:t>
            </a:r>
            <a:r>
              <a:rPr lang="en-GB" dirty="0"/>
              <a:t>a web application where students enter their marks and calculate CGPA.</a:t>
            </a:r>
          </a:p>
          <a:p>
            <a:r>
              <a:rPr lang="en-IN" b="1" dirty="0"/>
              <a:t>View</a:t>
            </a:r>
            <a:r>
              <a:rPr lang="en-IN" dirty="0"/>
              <a:t> displays the updated data to the user – what the student sees and interact with </a:t>
            </a:r>
          </a:p>
          <a:p>
            <a:r>
              <a:rPr lang="en-IN" b="1" dirty="0"/>
              <a:t>Controller</a:t>
            </a:r>
            <a:r>
              <a:rPr lang="en-IN" dirty="0"/>
              <a:t> receives input, applies logic and updates Model - </a:t>
            </a:r>
            <a:r>
              <a:rPr lang="en-GB" dirty="0"/>
              <a:t>Receives input from View, sends data to Model, and updates View</a:t>
            </a:r>
            <a:endParaRPr lang="en-IN" dirty="0"/>
          </a:p>
          <a:p>
            <a:r>
              <a:rPr lang="en-IN" b="1" dirty="0"/>
              <a:t>Model</a:t>
            </a:r>
            <a:r>
              <a:rPr lang="en-IN" dirty="0"/>
              <a:t> changes data and notifies Controller/View – stores student marks and calculate CGPA</a:t>
            </a:r>
          </a:p>
        </p:txBody>
      </p:sp>
    </p:spTree>
    <p:extLst>
      <p:ext uri="{BB962C8B-B14F-4D97-AF65-F5344CB8AC3E}">
        <p14:creationId xmlns:p14="http://schemas.microsoft.com/office/powerpoint/2010/main" val="15105355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53FAA-21EE-5C6D-3D8D-DD34EEAB0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and MERN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3F0F3-CA61-617A-3BD6-FEBCFB20A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 technology stack is a combination of </a:t>
            </a:r>
          </a:p>
          <a:p>
            <a:pPr marL="0" indent="0">
              <a:buNone/>
            </a:pPr>
            <a:r>
              <a:rPr lang="en-GB" dirty="0"/>
              <a:t>Frontend</a:t>
            </a:r>
          </a:p>
          <a:p>
            <a:pPr marL="0" indent="0">
              <a:buNone/>
            </a:pPr>
            <a:r>
              <a:rPr lang="en-GB" dirty="0"/>
              <a:t>Backend</a:t>
            </a:r>
          </a:p>
          <a:p>
            <a:pPr marL="0" indent="0">
              <a:buNone/>
            </a:pPr>
            <a:r>
              <a:rPr lang="en-GB" dirty="0"/>
              <a:t>Database technologies, used to build a complete web application.</a:t>
            </a:r>
          </a:p>
          <a:p>
            <a:r>
              <a:rPr lang="en-GB" dirty="0"/>
              <a:t>MEAN stack is a full-stack JavaScript framework consisting of MongoDB, Express.js, Angular, and Node.js.</a:t>
            </a:r>
          </a:p>
          <a:p>
            <a:r>
              <a:rPr lang="en-GB" dirty="0"/>
              <a:t>Used to design Single Page Applications (eliminates full page reloads – browser sends API calls, server sends data in JSON format)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678111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7B03-9E3C-1136-3E6D-217715BC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and MERN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9224E-1B7D-3FDE-C1C7-61682AF7C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MongoDB – NoSQL(Not Only SQL)-  document-oriented database – stores data in JSON format.</a:t>
            </a:r>
          </a:p>
          <a:p>
            <a:r>
              <a:rPr lang="en-GB" dirty="0"/>
              <a:t>Express.js - backend web framework built on top of Node.js - handle server-side logic and routing – HTTP request and response – Used to create RESTful API’s.</a:t>
            </a:r>
          </a:p>
          <a:p>
            <a:r>
              <a:rPr lang="en-GB" dirty="0"/>
              <a:t>Angular – client side - frontend framework -  based on the MVC architecture –</a:t>
            </a:r>
          </a:p>
          <a:p>
            <a:r>
              <a:rPr lang="en-GB" dirty="0"/>
              <a:t>Node.js is a server-side JavaScript runtime environment that executes JavaScript outside the browser.</a:t>
            </a:r>
          </a:p>
          <a:p>
            <a:r>
              <a:rPr lang="en-GB" dirty="0"/>
              <a:t>The MEAN stack uses JavaScript across all layers, making development faster and consistent.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8444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7AFDE-8C78-675D-B90E-ECD7B8BC7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and MERN Stacks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7EF1F-7E43-23B6-F8AE-C6819A511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MERN stack is similar to MEAN but replaces Angular with React.</a:t>
            </a:r>
          </a:p>
          <a:p>
            <a:r>
              <a:rPr lang="en-GB" dirty="0"/>
              <a:t>React - JavaScript library developed by Meta (interactive user interfaces)</a:t>
            </a:r>
          </a:p>
          <a:p>
            <a:r>
              <a:rPr lang="en-GB" dirty="0"/>
              <a:t>React handles the View layer and is not a full MVC framework – uses component, VDOM (Virtual Document Object Memory)</a:t>
            </a:r>
          </a:p>
          <a:p>
            <a:r>
              <a:rPr lang="en-GB" dirty="0"/>
              <a:t>MERN stack - used for applications requiring high frontend interactivity.</a:t>
            </a:r>
          </a:p>
          <a:p>
            <a:r>
              <a:rPr lang="en-GB" dirty="0"/>
              <a:t>Both MEAN and MERN stacks are suitable for building Single Page Applications (SPAs).</a:t>
            </a:r>
          </a:p>
          <a:p>
            <a:r>
              <a:rPr lang="en-GB" dirty="0"/>
              <a:t>Difference between SPA and VDOM?</a:t>
            </a:r>
          </a:p>
          <a:p>
            <a:r>
              <a:rPr lang="en-GB" dirty="0"/>
              <a:t>SPA decides when the page reloads, Virtual DOM decides how the page updates.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606388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7DB4B-01E6-6097-C854-852A6BB7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D592B8-A14A-6FD1-AFFA-84563D81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An API is a set of rules that allows one software application to communicate with another.</a:t>
            </a:r>
          </a:p>
          <a:p>
            <a:r>
              <a:rPr lang="en-GB" dirty="0"/>
              <a:t>API allows the frontend (browser / mobile app) to communicate with the backend server.</a:t>
            </a:r>
          </a:p>
          <a:p>
            <a:r>
              <a:rPr lang="en-GB" dirty="0"/>
              <a:t>How an API Works?</a:t>
            </a:r>
          </a:p>
          <a:p>
            <a:pPr marL="0" indent="0">
              <a:buNone/>
            </a:pPr>
            <a:r>
              <a:rPr lang="en-GB" dirty="0"/>
              <a:t>The client sends a request to the server using an API</a:t>
            </a:r>
          </a:p>
          <a:p>
            <a:pPr marL="0" indent="0">
              <a:buNone/>
            </a:pPr>
            <a:r>
              <a:rPr lang="en-GB" dirty="0"/>
              <a:t>The server processes the request</a:t>
            </a:r>
          </a:p>
          <a:p>
            <a:pPr marL="0" indent="0">
              <a:buNone/>
            </a:pPr>
            <a:r>
              <a:rPr lang="en-GB" dirty="0"/>
              <a:t>The server sends a response, usually in JSON format</a:t>
            </a:r>
          </a:p>
          <a:p>
            <a:r>
              <a:rPr lang="en-GB" dirty="0"/>
              <a:t>Many applications uses RESTful API’s (HTTP protocol, Stateless communication, Data exchange in JSON format)</a:t>
            </a:r>
          </a:p>
        </p:txBody>
      </p:sp>
    </p:spTree>
    <p:extLst>
      <p:ext uri="{BB962C8B-B14F-4D97-AF65-F5344CB8AC3E}">
        <p14:creationId xmlns:p14="http://schemas.microsoft.com/office/powerpoint/2010/main" val="275460726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08CA2-9B44-D730-9DCB-E6B683571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B650B-A263-D754-6D6C-01612AD69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HTTP methods used in API’s: (similar to CRUD in SQL)</a:t>
            </a:r>
          </a:p>
          <a:p>
            <a:pPr marL="0" indent="0">
              <a:buNone/>
            </a:pPr>
            <a:r>
              <a:rPr lang="en-IN" dirty="0"/>
              <a:t>GET – Retrieve data – fetch student data</a:t>
            </a:r>
          </a:p>
          <a:p>
            <a:pPr marL="0" indent="0">
              <a:buNone/>
            </a:pPr>
            <a:r>
              <a:rPr lang="en-IN" dirty="0"/>
              <a:t>POST – Send new data – Calculate CGPA</a:t>
            </a:r>
          </a:p>
          <a:p>
            <a:pPr marL="0" indent="0">
              <a:buNone/>
            </a:pPr>
            <a:r>
              <a:rPr lang="en-IN" dirty="0"/>
              <a:t>PUT – Update existing data – Update marks</a:t>
            </a:r>
          </a:p>
          <a:p>
            <a:pPr marL="0" indent="0">
              <a:buNone/>
            </a:pPr>
            <a:r>
              <a:rPr lang="en-IN" dirty="0"/>
              <a:t>DELETE – Remove data – Remove student record</a:t>
            </a:r>
          </a:p>
          <a:p>
            <a:r>
              <a:rPr lang="en-IN" dirty="0"/>
              <a:t>API’s allows multiple clients(mobile and web) to use same backend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026810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E519C-09C0-451C-7CDD-07D06E70C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Middleware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82D3-A444-E18D-419C-804A15FC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Middleware is software that sits between the request and the response in a web application.</a:t>
            </a:r>
          </a:p>
          <a:p>
            <a:r>
              <a:rPr lang="en-GB" dirty="0"/>
              <a:t>Middleware is used for logging, authentication, validation, JSON data parsing, error handling</a:t>
            </a:r>
          </a:p>
          <a:p>
            <a:r>
              <a:rPr lang="en-GB" dirty="0"/>
              <a:t>Types of middleware:</a:t>
            </a:r>
          </a:p>
          <a:p>
            <a:pPr marL="0" indent="0">
              <a:buNone/>
            </a:pPr>
            <a:r>
              <a:rPr lang="en-GB" dirty="0"/>
              <a:t>Application level – route level – built in (used in express – error handling </a:t>
            </a:r>
            <a:r>
              <a:rPr lang="en-GB"/>
              <a:t>middleware)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89782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72435-05A8-9651-CF09-ADB123896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for Dependency Injection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A5FE8D-3579-91E7-DA84-A9CD1BA7D1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223" y="1718120"/>
            <a:ext cx="5420481" cy="35247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F5944F-F6F5-4694-C529-F4D420203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422" y="1484408"/>
            <a:ext cx="5340378" cy="51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5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5132</Words>
  <Application>Microsoft Office PowerPoint</Application>
  <PresentationFormat>Widescreen</PresentationFormat>
  <Paragraphs>793</Paragraphs>
  <Slides>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8" baseType="lpstr">
      <vt:lpstr>Arial</vt:lpstr>
      <vt:lpstr>Calibri</vt:lpstr>
      <vt:lpstr>Calibri Light</vt:lpstr>
      <vt:lpstr>Courier New</vt:lpstr>
      <vt:lpstr>Nunito</vt:lpstr>
      <vt:lpstr>Office Theme</vt:lpstr>
      <vt:lpstr>CS23403 – FULL STACK TECHNOLOGIES</vt:lpstr>
      <vt:lpstr>Full Stack Technologies - Introduction</vt:lpstr>
      <vt:lpstr>The Web Application Architecture</vt:lpstr>
      <vt:lpstr>Syllabus Coverage</vt:lpstr>
      <vt:lpstr>Basic Web Development Framework - Introduction</vt:lpstr>
      <vt:lpstr>Basic Web Development Framework - Introduction</vt:lpstr>
      <vt:lpstr>Basic Web Development Framework - Introduction</vt:lpstr>
      <vt:lpstr>Hyper Text Markup Language (HTML) </vt:lpstr>
      <vt:lpstr>Hyper Text Markup Language (HTML) </vt:lpstr>
      <vt:lpstr>Hyper Text Markup Language (HTML) </vt:lpstr>
      <vt:lpstr>HTML –Basic Structure</vt:lpstr>
      <vt:lpstr>HTML – Text Formatting Tags</vt:lpstr>
      <vt:lpstr>HTML – Links and Image Tags</vt:lpstr>
      <vt:lpstr>HTML  - List Tags</vt:lpstr>
      <vt:lpstr>HTML – Table Tags</vt:lpstr>
      <vt:lpstr>HTML – Form tags</vt:lpstr>
      <vt:lpstr>HTML Attributes</vt:lpstr>
      <vt:lpstr>Cascading Style Sheets - Introduction</vt:lpstr>
      <vt:lpstr>Declaration : Selector and Rules of CSS</vt:lpstr>
      <vt:lpstr>Ways to apply CSS</vt:lpstr>
      <vt:lpstr>Ways to apply CSS</vt:lpstr>
      <vt:lpstr>Ways to apply CSS</vt:lpstr>
      <vt:lpstr>CSS Selectors</vt:lpstr>
      <vt:lpstr>CSS – Text and Font &amp; Background</vt:lpstr>
      <vt:lpstr>CSS Box Model</vt:lpstr>
      <vt:lpstr>Class in HTML</vt:lpstr>
      <vt:lpstr>Class in CSS – Same style to various HTML elements</vt:lpstr>
      <vt:lpstr>CSS Practices to follow</vt:lpstr>
      <vt:lpstr>Javascript -  Introduction</vt:lpstr>
      <vt:lpstr>Javascript Example</vt:lpstr>
      <vt:lpstr>Javascript - Introduction</vt:lpstr>
      <vt:lpstr>Javascript - Introduction</vt:lpstr>
      <vt:lpstr>Javascript - Introduction</vt:lpstr>
      <vt:lpstr>Javascript - Introduction</vt:lpstr>
      <vt:lpstr>Javascript – Functions:</vt:lpstr>
      <vt:lpstr>Javascript - Functions</vt:lpstr>
      <vt:lpstr>Javascript - Functions</vt:lpstr>
      <vt:lpstr>Javascript - Arrays</vt:lpstr>
      <vt:lpstr>Javascript - Array</vt:lpstr>
      <vt:lpstr>Javascript - Array</vt:lpstr>
      <vt:lpstr>Javascript -Objects</vt:lpstr>
      <vt:lpstr>Javascript - String</vt:lpstr>
      <vt:lpstr>Common String Operations</vt:lpstr>
      <vt:lpstr>Javascript – String - Example</vt:lpstr>
      <vt:lpstr>Javascript – Overview &amp; Purpose</vt:lpstr>
      <vt:lpstr>XML –Extensible Markup Language </vt:lpstr>
      <vt:lpstr>Why XML?</vt:lpstr>
      <vt:lpstr>XML –Extensible Markup Language </vt:lpstr>
      <vt:lpstr>XML –Extensible Markup Language </vt:lpstr>
      <vt:lpstr>XML – Transporting data between different systems</vt:lpstr>
      <vt:lpstr>XML Core components</vt:lpstr>
      <vt:lpstr>XML Core components</vt:lpstr>
      <vt:lpstr>The rules/ properties that makeup XML</vt:lpstr>
      <vt:lpstr>PowerPoint Presentation</vt:lpstr>
      <vt:lpstr>Then where do we use XML?</vt:lpstr>
      <vt:lpstr>Data Transport in XML</vt:lpstr>
      <vt:lpstr>XML Validation - “If XML allows user-defined tags, why validation and syntax rules?”</vt:lpstr>
      <vt:lpstr>XML Validation</vt:lpstr>
      <vt:lpstr>XML Validation</vt:lpstr>
      <vt:lpstr> XML Validation</vt:lpstr>
      <vt:lpstr>Validation Flow</vt:lpstr>
      <vt:lpstr>Applications of XML</vt:lpstr>
      <vt:lpstr>Difference between XML and HTML</vt:lpstr>
      <vt:lpstr>Externally linking XML to JS</vt:lpstr>
      <vt:lpstr>Embedding XML to JS</vt:lpstr>
      <vt:lpstr>Why we need XML when there is JS already?</vt:lpstr>
      <vt:lpstr>Class Activity</vt:lpstr>
      <vt:lpstr>XML file</vt:lpstr>
      <vt:lpstr>HTML file</vt:lpstr>
      <vt:lpstr>CSS file</vt:lpstr>
      <vt:lpstr>JS File</vt:lpstr>
      <vt:lpstr>JSON – JavaScript Object Notation</vt:lpstr>
      <vt:lpstr>Data Flow from Server to Client</vt:lpstr>
      <vt:lpstr>Example</vt:lpstr>
      <vt:lpstr>JSON Sample Code – Basic JSON Objects, Nested Objects and Arrays</vt:lpstr>
      <vt:lpstr>Why JSON?</vt:lpstr>
      <vt:lpstr>JSON Vs HTML Vs XML</vt:lpstr>
      <vt:lpstr>Web Server</vt:lpstr>
      <vt:lpstr>Working of a Web Server</vt:lpstr>
      <vt:lpstr>Backend Services</vt:lpstr>
      <vt:lpstr>MVC – Model Control View Architecture</vt:lpstr>
      <vt:lpstr>MVC Architecture</vt:lpstr>
      <vt:lpstr>MVC Architecture</vt:lpstr>
      <vt:lpstr>MVC Architecture</vt:lpstr>
      <vt:lpstr>Flow of MVC</vt:lpstr>
      <vt:lpstr>MEAN and MERN Stacks</vt:lpstr>
      <vt:lpstr>MEAN and MERN Stacks</vt:lpstr>
      <vt:lpstr>MEAN and MERN Stacks</vt:lpstr>
      <vt:lpstr>API’s</vt:lpstr>
      <vt:lpstr>API’s</vt:lpstr>
      <vt:lpstr>Middleware</vt:lpstr>
      <vt:lpstr>Example for Dependency Injection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Krishnan Chandra</dc:creator>
  <cp:lastModifiedBy>Krishnan Chandra</cp:lastModifiedBy>
  <cp:revision>139</cp:revision>
  <dcterms:created xsi:type="dcterms:W3CDTF">2025-12-15T23:53:26Z</dcterms:created>
  <dcterms:modified xsi:type="dcterms:W3CDTF">2026-01-06T01:22:55Z</dcterms:modified>
</cp:coreProperties>
</file>