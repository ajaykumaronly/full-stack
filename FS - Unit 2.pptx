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7" r:id="rId13"/>
    <p:sldId id="268" r:id="rId14"/>
    <p:sldId id="269" r:id="rId15"/>
    <p:sldId id="270" r:id="rId16"/>
    <p:sldId id="271" r:id="rId17"/>
    <p:sldId id="275" r:id="rId18"/>
    <p:sldId id="276" r:id="rId19"/>
    <p:sldId id="277" r:id="rId20"/>
    <p:sldId id="272" r:id="rId21"/>
    <p:sldId id="278" r:id="rId22"/>
    <p:sldId id="273" r:id="rId23"/>
    <p:sldId id="274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4:16:49.0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 0,'2181'-20'0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4:17:09.37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0 171 0,'3128'-170'0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6T14:17:12.35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97,'3'0,"0"0,0-1,0 1,0 0,0-1,0 0,4-1,9-3,61-11,0 3,120-5,164 17,-178 3,531-2,-661-2,74-14,13-1,337 12,-278 6,1636-1,-1790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6T14:17:47.789"/>
    </inkml:context>
    <inkml:brush xml:id="br0">
      <inkml:brushProperty name="width" value="0.3" units="cm"/>
      <inkml:brushProperty name="height" value="0.6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0,'1251'0'0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A4D3-1749-9065-F443-7983BB3BF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70370-0B15-F8F4-2180-56AC275A9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B2EA-FF17-4E26-AAB3-B71F945E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99078-76C1-26E3-BDAD-7428E2D8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9517B-D4A0-B552-FA3C-0C93BA45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22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7603B-6CCA-5100-2D8E-033196A7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1B8C2-CDB7-6D82-D6E9-7418E002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F62C2-945B-5646-E18A-3A14A13D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1F29-1C6C-4729-59E7-DCF06A9F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54EFF-9AF9-33B9-3A91-06D84A3D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34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81330-A6BD-4F7B-6CC7-BFFF7016A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DBA82-D153-2987-1382-E1DFCE741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A2F85-8297-FBAC-0D52-3EE6FAF25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16B4E-B32D-65D4-485A-F03AA0231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6039-85B3-29BE-E4B2-4FC4BFED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9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168F-DB29-3E04-9D0B-5733F00A5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90999-49C8-C7F2-1932-01F4A7929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0821D-0BA4-37A4-0DE5-0463BC21F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E8DDC-1BCA-C179-AD98-A9231734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D328C-C2FA-03F1-5844-1B422BD49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4AFAF-2CC5-D10F-ACD1-F576493F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20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76CF-51E9-5C69-A82D-D347FAE7A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181C5-8DF2-AEBE-85D0-352D71E15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DE-2D35-3163-CF77-EA6F6BBCA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8F2332-4C11-8E27-47FF-8EF145C1D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9DE87-836F-E889-BA6B-163E063324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32FB1-BB9A-01D4-600A-A9A0C00E5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F9C4B-B853-E751-A7C6-A4B35DA0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8631B-B0E3-5C88-34F5-43BCEA72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13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0E8B8-0384-70B1-265E-3C093CFD7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0FCB32-20D9-DA06-ABED-F04FF8B5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BB97F-EF62-CE34-B345-1B6358F7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81AF4-610B-0B92-CA0B-4272222F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09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DED3EF-AEA9-4B77-A9C1-EA7B66897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C07D2-F890-3A45-A972-38466213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31436-B15E-374C-E3F8-636A1230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36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E9FA-C3A4-1B70-C837-A4326E9F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7DE15-8A99-BF57-2547-1AC4521D8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3FA72-8766-D0CC-A45D-410EA6ED3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346C2-4A1D-8244-2583-8FBC6B5B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7F533-FC1A-6813-4A9E-BF59029D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09B28-4693-48A5-3B51-B9741361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69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5900-A3A9-FEF3-A211-A4EFDB6B1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F43888-B8FD-E590-851D-31275E605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9213E-3ABC-C75A-617D-1BFB4622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9C0FE-CFCE-0629-C00B-DDB7D54C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30A694-4849-B071-75FC-7FA594ED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E1F84-DB53-4DD9-F97E-DA9FCE934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7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9E31-A698-2556-F8B5-C0BB8029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69D6B-6C26-6B1F-7074-7124D6EDE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BA1A3-CC54-4262-264E-6D8DF306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9EB9-E825-62C3-5410-E6CF0DC7B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33130-05DF-90A3-BE6A-018FFD8D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02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54E153-007D-8FF1-8BA3-399A4748E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7C08D-89D5-439F-39C6-60ADD2D1F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6A97C-DC8D-D142-12A4-BE336E8A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C6-CCA7-4E99-9641-EFF977AE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5E8-1F02-0049-5C47-6A290E45B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80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40F78E-60DF-2F6B-D960-CE502E15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B4A93-1768-01D9-D31E-63341874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1446B-AD33-8F7A-D57B-CD469008E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787CB-94E3-4285-BAAA-0D6877BFB3CF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D3D96-8080-182E-A948-055E3730F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961B-5A85-C604-C0AF-8A33B59A9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E0C84-240E-4A06-91A3-A86F73E10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2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C0BE-8ED3-1EF3-8F9F-ABB24FA61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CS23403 – FULL STACK TECHNOLOGIES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5AB15-F135-08F8-8C60-FC4B33A52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2 – NODE.JS AND FRAMEWORKS</a:t>
            </a:r>
          </a:p>
          <a:p>
            <a:r>
              <a:rPr lang="en-IN" dirty="0"/>
              <a:t>B.E. COMPUTER SCIENCE AND ENGINEERING</a:t>
            </a:r>
          </a:p>
          <a:p>
            <a:r>
              <a:rPr lang="en-IN" dirty="0"/>
              <a:t>2023 REGULATION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2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D4AF7-5A5C-3DB8-AAAA-D4E48E3A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Node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6B56A-7799-7C39-86A9-8908DF74F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 Node Packaged Module </a:t>
            </a:r>
            <a:r>
              <a:rPr lang="en-GB" dirty="0"/>
              <a:t>is a packaged library that can easily be shared, reused and installed in different projects – NPM &amp; NPM’s</a:t>
            </a:r>
          </a:p>
          <a:p>
            <a:r>
              <a:rPr lang="en-GB" dirty="0"/>
              <a:t>Includes </a:t>
            </a:r>
            <a:r>
              <a:rPr lang="en-GB" b="1" dirty="0"/>
              <a:t>Package. Json </a:t>
            </a:r>
            <a:r>
              <a:rPr lang="en-GB" dirty="0"/>
              <a:t>file that define the packages – contains informational meta data and control metadata</a:t>
            </a:r>
          </a:p>
          <a:p>
            <a:r>
              <a:rPr lang="en-GB" b="1" dirty="0"/>
              <a:t>A Node Package Manager</a:t>
            </a:r>
            <a:r>
              <a:rPr lang="en-GB" dirty="0"/>
              <a:t> is a command-line utility that allows developers to find, install, remove, update and publish Node Packaged Modules.</a:t>
            </a:r>
          </a:p>
          <a:p>
            <a:r>
              <a:rPr lang="en-IN" dirty="0"/>
              <a:t>Acts as </a:t>
            </a:r>
            <a:r>
              <a:rPr lang="en-IN" b="1" dirty="0"/>
              <a:t>link</a:t>
            </a:r>
            <a:r>
              <a:rPr lang="en-IN" dirty="0"/>
              <a:t> between </a:t>
            </a:r>
            <a:r>
              <a:rPr lang="en-GB" dirty="0"/>
              <a:t>the Node Package Registry and the local development environment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920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FB23-5B9E-E6F5-B0FB-7C94C304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NPM – Command Lines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8ADAF4-FB42-8F03-E408-398021185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9727"/>
            <a:ext cx="10515600" cy="36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2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C6F3-8F32-10BA-F64C-B2D8ED89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NPM – Command Lines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9DB1C9-B50D-294A-C031-44CC04B7F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226" y="1634556"/>
            <a:ext cx="85773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3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8C25-7106-81AC-C2A4-90979C6B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</a:t>
            </a:r>
            <a:r>
              <a:rPr lang="en-IN" dirty="0" err="1"/>
              <a:t>Package.JSON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4671-0916-E0B5-7349-CE938E35E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Managing a Node.js project’s metadata and dependencies so that NPM can automatically install and maintain required modules.</a:t>
            </a:r>
          </a:p>
          <a:p>
            <a:r>
              <a:rPr lang="en-GB" dirty="0"/>
              <a:t>This is done using a single configuration file</a:t>
            </a:r>
          </a:p>
          <a:p>
            <a:r>
              <a:rPr lang="en-GB" dirty="0"/>
              <a:t>Package . JSON contains - Project name - Project version - Which libraries are needed (dependencies) - How to run the project (scripts)</a:t>
            </a:r>
          </a:p>
          <a:p>
            <a:endParaRPr lang="en-GB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6C59D-95AA-9F91-4699-5CD6DBC16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77" y="4159907"/>
            <a:ext cx="5749163" cy="2541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E18D17-A8E1-D7A7-2A6A-634D92774DB1}"/>
              </a:ext>
            </a:extLst>
          </p:cNvPr>
          <p:cNvSpPr txBox="1"/>
          <p:nvPr/>
        </p:nvSpPr>
        <p:spPr>
          <a:xfrm>
            <a:off x="6769290" y="4790364"/>
            <a:ext cx="487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Package.json</a:t>
            </a:r>
            <a:r>
              <a:rPr lang="en-IN" dirty="0"/>
              <a:t> file which needs to be the root of project code</a:t>
            </a:r>
          </a:p>
        </p:txBody>
      </p:sp>
    </p:spTree>
    <p:extLst>
      <p:ext uri="{BB962C8B-B14F-4D97-AF65-F5344CB8AC3E}">
        <p14:creationId xmlns:p14="http://schemas.microsoft.com/office/powerpoint/2010/main" val="162923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41DE6-1428-201A-FC84-503F7AD7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Node.JS Application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D42AED-E563-745B-4FA4-17A9036AD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</a:t>
            </a:r>
            <a:r>
              <a:rPr lang="en-GB" dirty="0"/>
              <a:t>the functionality in JavaScript</a:t>
            </a:r>
          </a:p>
          <a:p>
            <a:r>
              <a:rPr lang="en-GB" dirty="0"/>
              <a:t>Define the package using a </a:t>
            </a:r>
            <a:r>
              <a:rPr lang="en-GB" dirty="0" err="1"/>
              <a:t>package.json</a:t>
            </a:r>
            <a:r>
              <a:rPr lang="en-GB" dirty="0"/>
              <a:t> file</a:t>
            </a:r>
          </a:p>
          <a:p>
            <a:r>
              <a:rPr lang="en-GB" dirty="0"/>
              <a:t>Publish it to the registry or package it</a:t>
            </a:r>
          </a:p>
          <a:p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32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173BE-57DB-7DF6-241D-C740A60B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create and use a Node.JS Packaged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0326-E73D-03B8-4DF2-311036DF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en-GB" b="1" dirty="0"/>
              <a:t>Create a project folder</a:t>
            </a:r>
            <a:br>
              <a:rPr lang="en-GB" dirty="0"/>
            </a:br>
            <a:r>
              <a:rPr lang="en-GB" dirty="0"/>
              <a:t>Example: </a:t>
            </a:r>
            <a:r>
              <a:rPr lang="en-GB" dirty="0" err="1"/>
              <a:t>simplemath</a:t>
            </a:r>
            <a:r>
              <a:rPr lang="en-GB" dirty="0"/>
              <a:t>/</a:t>
            </a:r>
            <a:br>
              <a:rPr lang="en-GB" dirty="0"/>
            </a:br>
            <a:r>
              <a:rPr lang="en-GB" dirty="0"/>
              <a:t>(This folder is the root of the module)</a:t>
            </a:r>
          </a:p>
          <a:p>
            <a:pPr marL="0" indent="0">
              <a:buNone/>
            </a:pPr>
            <a:r>
              <a:rPr lang="en-GB" b="1" dirty="0"/>
              <a:t>2) Create a JavaScript file with functionality(Node.JS)</a:t>
            </a:r>
            <a:br>
              <a:rPr lang="en-GB" dirty="0"/>
            </a:br>
            <a:r>
              <a:rPr lang="en-GB" dirty="0"/>
              <a:t>Example: simplemath.js</a:t>
            </a:r>
          </a:p>
          <a:p>
            <a:pPr marL="0" indent="0">
              <a:buNone/>
            </a:pPr>
            <a:r>
              <a:rPr lang="en-GB" dirty="0"/>
              <a:t>function add(a, b) {</a:t>
            </a:r>
          </a:p>
          <a:p>
            <a:pPr marL="0" indent="0">
              <a:buNone/>
            </a:pPr>
            <a:r>
              <a:rPr lang="en-GB" dirty="0"/>
              <a:t>  return a + b;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 err="1"/>
              <a:t>exports.add</a:t>
            </a:r>
            <a:r>
              <a:rPr lang="en-GB" dirty="0"/>
              <a:t> = add; // function to export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8924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4706-FA78-EFC2-0375-39AE921E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create and use a Node.JS Packaged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5BF-EFB2-1238-F454-E8C04028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3) </a:t>
            </a:r>
            <a:r>
              <a:rPr lang="en-GB" b="1" dirty="0"/>
              <a:t>Create a </a:t>
            </a:r>
            <a:r>
              <a:rPr lang="en-GB" b="1" dirty="0" err="1"/>
              <a:t>package.json</a:t>
            </a:r>
            <a:r>
              <a:rPr lang="en-GB" b="1" dirty="0"/>
              <a:t> file</a:t>
            </a:r>
            <a:br>
              <a:rPr lang="en-GB" dirty="0"/>
            </a:br>
            <a:r>
              <a:rPr lang="en-GB" dirty="0"/>
              <a:t>This defines the module.</a:t>
            </a:r>
          </a:p>
          <a:p>
            <a:pPr marL="0" indent="0">
              <a:buNone/>
            </a:pPr>
            <a:r>
              <a:rPr lang="en-GB" dirty="0"/>
              <a:t>{</a:t>
            </a:r>
          </a:p>
          <a:p>
            <a:pPr marL="0" indent="0">
              <a:buNone/>
            </a:pPr>
            <a:r>
              <a:rPr lang="en-GB" dirty="0"/>
              <a:t>  "name": "</a:t>
            </a:r>
            <a:r>
              <a:rPr lang="en-GB" dirty="0" err="1"/>
              <a:t>simplemath</a:t>
            </a:r>
            <a:r>
              <a:rPr lang="en-GB" dirty="0"/>
              <a:t>",</a:t>
            </a:r>
          </a:p>
          <a:p>
            <a:pPr marL="0" indent="0">
              <a:buNone/>
            </a:pPr>
            <a:r>
              <a:rPr lang="en-GB" dirty="0"/>
              <a:t>  "version": "1.0.0",</a:t>
            </a:r>
          </a:p>
          <a:p>
            <a:pPr marL="0" indent="0">
              <a:buNone/>
            </a:pPr>
            <a:r>
              <a:rPr lang="en-GB" dirty="0"/>
              <a:t>  "main": "</a:t>
            </a:r>
            <a:r>
              <a:rPr lang="en-GB" dirty="0" err="1"/>
              <a:t>simplemath</a:t>
            </a:r>
            <a:r>
              <a:rPr lang="en-GB" dirty="0"/>
              <a:t>"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057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A491-153D-636C-28E1-FE65092A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create and use a Node.JS Packaged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B445-EFD9-A90A-7C8D-E9F8B46CC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4) Open terminal inside the module folder</a:t>
            </a:r>
            <a:br>
              <a:rPr lang="en-GB" dirty="0"/>
            </a:br>
            <a:r>
              <a:rPr lang="en-GB" dirty="0"/>
              <a:t>Run the command:</a:t>
            </a:r>
          </a:p>
          <a:p>
            <a:pPr marL="0" indent="0">
              <a:buNone/>
            </a:pPr>
            <a:r>
              <a:rPr lang="en-GB" dirty="0" err="1"/>
              <a:t>npm</a:t>
            </a:r>
            <a:r>
              <a:rPr lang="en-GB" dirty="0"/>
              <a:t> pack</a:t>
            </a:r>
          </a:p>
          <a:p>
            <a:pPr marL="0" indent="0">
              <a:buNone/>
            </a:pPr>
            <a:r>
              <a:rPr lang="en-GB" b="1" dirty="0"/>
              <a:t>5) This creates a file like simplemath-1.0.0.tgz</a:t>
            </a:r>
            <a:r>
              <a:rPr lang="en-GB" dirty="0"/>
              <a:t>. //TGZ is the packaged form of a Node.js module, similar to a ZIP file (packs the .</a:t>
            </a:r>
            <a:r>
              <a:rPr lang="en-GB" dirty="0" err="1"/>
              <a:t>js</a:t>
            </a:r>
            <a:r>
              <a:rPr lang="en-GB" dirty="0"/>
              <a:t> file and .</a:t>
            </a:r>
            <a:r>
              <a:rPr lang="en-GB" dirty="0" err="1"/>
              <a:t>json</a:t>
            </a:r>
            <a:r>
              <a:rPr lang="en-GB" dirty="0"/>
              <a:t> file)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09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5EC8-C653-DCA8-53E0-042A3938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create and use a Node.JS Packaged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7E01C-D635-0A9A-BB44-42AEECAD8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6) Install &amp; Use the module in another Node.js file</a:t>
            </a:r>
            <a:br>
              <a:rPr lang="en-GB" dirty="0"/>
            </a:br>
            <a:r>
              <a:rPr lang="en-GB" dirty="0" err="1"/>
              <a:t>npm</a:t>
            </a:r>
            <a:r>
              <a:rPr lang="en-GB" dirty="0"/>
              <a:t> install ./simplemath-1.0.0.tgz</a:t>
            </a:r>
          </a:p>
          <a:p>
            <a:pPr marL="0" indent="0">
              <a:buNone/>
            </a:pPr>
            <a:r>
              <a:rPr lang="en-GB" dirty="0"/>
              <a:t>Example: app.js</a:t>
            </a:r>
          </a:p>
          <a:p>
            <a:pPr marL="0" indent="0">
              <a:buNone/>
            </a:pPr>
            <a:r>
              <a:rPr lang="en-GB" dirty="0"/>
              <a:t>var math = require("</a:t>
            </a:r>
            <a:r>
              <a:rPr lang="en-GB" dirty="0" err="1"/>
              <a:t>simplemath</a:t>
            </a:r>
            <a:r>
              <a:rPr lang="en-GB" dirty="0"/>
              <a:t>");</a:t>
            </a:r>
          </a:p>
          <a:p>
            <a:pPr marL="0" indent="0">
              <a:buNone/>
            </a:pPr>
            <a:r>
              <a:rPr lang="en-GB" dirty="0"/>
              <a:t>console.log(</a:t>
            </a:r>
            <a:r>
              <a:rPr lang="en-GB" dirty="0" err="1"/>
              <a:t>math.add</a:t>
            </a:r>
            <a:r>
              <a:rPr lang="en-GB" dirty="0"/>
              <a:t>(5, 3));</a:t>
            </a:r>
          </a:p>
          <a:p>
            <a:pPr marL="0" indent="0">
              <a:buNone/>
            </a:pPr>
            <a:r>
              <a:rPr lang="en-IN" b="1" dirty="0"/>
              <a:t>7) Run the application </a:t>
            </a:r>
            <a:r>
              <a:rPr lang="en-IN" dirty="0"/>
              <a:t>node app.js</a:t>
            </a:r>
          </a:p>
          <a:p>
            <a:pPr marL="0" indent="0">
              <a:buNone/>
            </a:pPr>
            <a:r>
              <a:rPr lang="en-IN" b="1" dirty="0"/>
              <a:t>8)</a:t>
            </a:r>
            <a:r>
              <a:rPr lang="en-IN" dirty="0"/>
              <a:t> Output : 8</a:t>
            </a:r>
          </a:p>
          <a:p>
            <a:pPr marL="0" indent="0">
              <a:buNone/>
            </a:pPr>
            <a:r>
              <a:rPr lang="en-GB" i="1" dirty="0"/>
              <a:t>A Node.js packaged module is created by writing JavaScript code, exporting functions, defining the module using </a:t>
            </a:r>
            <a:r>
              <a:rPr lang="en-GB" i="1" dirty="0" err="1"/>
              <a:t>package.json</a:t>
            </a:r>
            <a:r>
              <a:rPr lang="en-GB" i="1" dirty="0"/>
              <a:t>, packaging it with </a:t>
            </a:r>
            <a:r>
              <a:rPr lang="en-GB" i="1" dirty="0" err="1"/>
              <a:t>npm</a:t>
            </a:r>
            <a:r>
              <a:rPr lang="en-GB" i="1" dirty="0"/>
              <a:t>, and importing it using </a:t>
            </a:r>
            <a:r>
              <a:rPr lang="en-GB" b="1" i="1" dirty="0"/>
              <a:t>require() – (Common JS) or import() - (ECMA Script Modules - ESM)</a:t>
            </a:r>
            <a:endParaRPr lang="en-IN" b="1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7930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541C0-52EA-C051-99E6-DC05F3B9B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Package . JSON &amp; Node_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06649-0D65-E6E6-1D71-26DA9E740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Package.json</a:t>
            </a:r>
            <a:r>
              <a:rPr lang="en-GB" dirty="0"/>
              <a:t> tells </a:t>
            </a:r>
            <a:r>
              <a:rPr lang="en-GB" dirty="0" err="1"/>
              <a:t>npm</a:t>
            </a:r>
            <a:r>
              <a:rPr lang="en-GB" dirty="0"/>
              <a:t> what the project needs, while </a:t>
            </a:r>
            <a:r>
              <a:rPr lang="en-GB" dirty="0" err="1"/>
              <a:t>node_modules</a:t>
            </a:r>
            <a:r>
              <a:rPr lang="en-GB" dirty="0"/>
              <a:t> contains the actual installed packages.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1A9746-902F-8CD7-D693-53B79AAE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13865"/>
              </p:ext>
            </p:extLst>
          </p:nvPr>
        </p:nvGraphicFramePr>
        <p:xfrm>
          <a:off x="1486469" y="2885123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73649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99583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package.json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node_modules</a:t>
                      </a:r>
                      <a:endParaRPr lang="en-IN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55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It is a JSON configuration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 is a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35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Describes the Node.js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actual Node.js packages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0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Lists project name, version, and dependencies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Contains installed libraries and their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001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Created manually or using </a:t>
                      </a:r>
                      <a:r>
                        <a:rPr lang="en-GB">
                          <a:latin typeface="Courier New" panose="02070309020205020404" pitchFamily="49" charset="0"/>
                        </a:rPr>
                        <a:t>npm init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 automatically by npm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45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Readable and editable by developers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Not meant to be edited manually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73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Tells npm </a:t>
                      </a:r>
                      <a:r>
                        <a:rPr lang="en-GB" b="1"/>
                        <a:t>what to install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</a:t>
                      </a:r>
                      <a:r>
                        <a:rPr lang="en-IN" b="1" dirty="0"/>
                        <a:t>what is installed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26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Acts as an instruction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Acts as a storage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345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745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AABA-769B-0560-220C-4E747911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with Node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194FA-9471-3632-D313-1CDC6A72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Package → Ready-made solution</a:t>
            </a:r>
          </a:p>
          <a:p>
            <a:r>
              <a:rPr lang="en-IN" dirty="0" err="1"/>
              <a:t>npm</a:t>
            </a:r>
            <a:r>
              <a:rPr lang="en-IN" dirty="0"/>
              <a:t> → Tool that provides packages</a:t>
            </a:r>
          </a:p>
          <a:p>
            <a:r>
              <a:rPr lang="en-IN" dirty="0" err="1"/>
              <a:t>package.json</a:t>
            </a:r>
            <a:r>
              <a:rPr lang="en-IN" dirty="0"/>
              <a:t> → Requirement list</a:t>
            </a:r>
          </a:p>
          <a:p>
            <a:r>
              <a:rPr lang="en-IN" dirty="0" err="1"/>
              <a:t>node_modules</a:t>
            </a:r>
            <a:r>
              <a:rPr lang="en-IN" dirty="0"/>
              <a:t> → Storage place</a:t>
            </a:r>
          </a:p>
          <a:p>
            <a:r>
              <a:rPr lang="en-GB" i="1" dirty="0"/>
              <a:t>Eg: The package</a:t>
            </a:r>
            <a:r>
              <a:rPr lang="en-GB" dirty="0"/>
              <a:t> is the ready-made furniture, </a:t>
            </a:r>
            <a:r>
              <a:rPr lang="en-GB" i="1" dirty="0" err="1"/>
              <a:t>npm</a:t>
            </a:r>
            <a:r>
              <a:rPr lang="en-GB" dirty="0"/>
              <a:t> is the furniture shop, </a:t>
            </a:r>
            <a:r>
              <a:rPr lang="en-GB" i="1" dirty="0" err="1"/>
              <a:t>package.json</a:t>
            </a:r>
            <a:r>
              <a:rPr lang="en-GB" dirty="0"/>
              <a:t> is the specification of furniture along with the things to buy, and </a:t>
            </a:r>
            <a:r>
              <a:rPr lang="en-GB" i="1" dirty="0" err="1"/>
              <a:t>node_modules</a:t>
            </a:r>
            <a:r>
              <a:rPr lang="en-GB" dirty="0"/>
              <a:t> is the store room where all the furniture is kept.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167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B6F02-2408-5263-C6E9-A52B6725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Filesystems – Buffer -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CF38E-5B1C-38A6-96F2-EE73672A5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File System (fs) module in Node.js allows applications to read, write, update, delete, and manage files on the server.</a:t>
            </a:r>
          </a:p>
          <a:p>
            <a:r>
              <a:rPr lang="en-GB" dirty="0"/>
              <a:t>Node.js can directly interact with files because it runs outside the browser.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B3D01-92C9-0DC8-E265-58EC4335EA29}"/>
              </a:ext>
            </a:extLst>
          </p:cNvPr>
          <p:cNvSpPr txBox="1"/>
          <p:nvPr/>
        </p:nvSpPr>
        <p:spPr>
          <a:xfrm>
            <a:off x="6939887" y="3828197"/>
            <a:ext cx="4264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fs.readFile</a:t>
            </a:r>
            <a:r>
              <a:rPr lang="en-GB" dirty="0"/>
              <a:t>() reads the file asynchronously (waits for a callback function to </a:t>
            </a:r>
            <a:r>
              <a:rPr lang="en-GB" dirty="0" err="1"/>
              <a:t>diplay</a:t>
            </a:r>
            <a:r>
              <a:rPr lang="en-GB" dirty="0"/>
              <a:t> the result)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utf8 converts file content to readable text (binary data to buffer)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Callback handles result ( runs later, after the file reading is complete)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D858E6-18F6-E26B-2D38-2572E3E2050E}"/>
                  </a:ext>
                </a:extLst>
              </p14:cNvPr>
              <p14:cNvContentPartPr/>
              <p14:nvPr/>
            </p14:nvContentPartPr>
            <p14:xfrm>
              <a:off x="7342141" y="5110818"/>
              <a:ext cx="785520" cy="7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D858E6-18F6-E26B-2D38-2572E3E205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8141" y="5002818"/>
                <a:ext cx="89316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6D080FE-232B-B807-F838-F0BC6AD14DE0}"/>
                  </a:ext>
                </a:extLst>
              </p14:cNvPr>
              <p14:cNvContentPartPr/>
              <p14:nvPr/>
            </p14:nvContentPartPr>
            <p14:xfrm>
              <a:off x="7328821" y="4012458"/>
              <a:ext cx="1126440" cy="61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6D080FE-232B-B807-F838-F0BC6AD14D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74821" y="3904458"/>
                <a:ext cx="123408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3D95DC5-C03D-E9F6-0342-FE41F99E19D1}"/>
                  </a:ext>
                </a:extLst>
              </p14:cNvPr>
              <p14:cNvContentPartPr/>
              <p14:nvPr/>
            </p14:nvContentPartPr>
            <p14:xfrm>
              <a:off x="7321981" y="4332138"/>
              <a:ext cx="1630800" cy="34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3D95DC5-C03D-E9F6-0342-FE41F99E19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8341" y="4224498"/>
                <a:ext cx="173844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6163B05-DA12-309F-A0FC-366C67EE7201}"/>
                  </a:ext>
                </a:extLst>
              </p14:cNvPr>
              <p14:cNvContentPartPr/>
              <p14:nvPr/>
            </p14:nvContentPartPr>
            <p14:xfrm>
              <a:off x="7349341" y="4592418"/>
              <a:ext cx="45072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6163B05-DA12-309F-A0FC-366C67EE720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95341" y="4484418"/>
                <a:ext cx="55836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866A4CE2-7307-6BD3-805E-E85E653BAB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250" y="3530991"/>
            <a:ext cx="5959858" cy="301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86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B1766-F825-27C1-DADB-2DDE4DFC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Filesystems – Buffer -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0CF9F-D513-1A5F-03FC-B14E35876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Buffer</a:t>
            </a:r>
            <a:r>
              <a:rPr lang="en-GB" dirty="0"/>
              <a:t> is a temporary memory area used to </a:t>
            </a:r>
            <a:r>
              <a:rPr lang="en-GB" b="1" dirty="0"/>
              <a:t>store binary data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fs = require("fs");</a:t>
            </a:r>
          </a:p>
          <a:p>
            <a:pPr marL="0" indent="0">
              <a:buNone/>
            </a:pPr>
            <a:r>
              <a:rPr lang="en-IN" dirty="0" err="1"/>
              <a:t>fs.readFile</a:t>
            </a:r>
            <a:r>
              <a:rPr lang="en-IN" dirty="0"/>
              <a:t>("data.txt", (err, data) =&gt; {</a:t>
            </a:r>
          </a:p>
          <a:p>
            <a:pPr marL="0" indent="0">
              <a:buNone/>
            </a:pPr>
            <a:r>
              <a:rPr lang="en-IN" dirty="0"/>
              <a:t>  console.log(data);           // Buffer output</a:t>
            </a:r>
          </a:p>
          <a:p>
            <a:pPr marL="0" indent="0">
              <a:buNone/>
            </a:pPr>
            <a:r>
              <a:rPr lang="en-IN" dirty="0"/>
              <a:t>  console.log(</a:t>
            </a:r>
            <a:r>
              <a:rPr lang="en-IN" dirty="0" err="1"/>
              <a:t>data.toString</a:t>
            </a:r>
            <a:r>
              <a:rPr lang="en-IN" dirty="0"/>
              <a:t>()); // Readable text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378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BF77-D0A6-43AB-FE47-C7B9DBDA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Filesystems – Buffer -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E3859-50D3-5242-7B88-9A7F4546D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Stream is a way to read or write data piece by piece/ chunk by chunk, instead of loading everything at once</a:t>
            </a:r>
          </a:p>
          <a:p>
            <a:r>
              <a:rPr lang="en-GB" dirty="0"/>
              <a:t>Data is processed as it arrives – memory efficiency – enables non – blocking I/O (node.js doesn’t wait for I/O to finish – tasks runs in the background)</a:t>
            </a:r>
          </a:p>
          <a:p>
            <a:pPr marL="0" indent="0">
              <a:buNone/>
            </a:pPr>
            <a:r>
              <a:rPr lang="en-GB" dirty="0" err="1"/>
              <a:t>const</a:t>
            </a:r>
            <a:r>
              <a:rPr lang="en-GB" dirty="0"/>
              <a:t> fs = require('</a:t>
            </a:r>
            <a:r>
              <a:rPr lang="en-GB" dirty="0" err="1"/>
              <a:t>fs'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readStream</a:t>
            </a:r>
            <a:r>
              <a:rPr lang="en-GB" dirty="0"/>
              <a:t> = </a:t>
            </a:r>
            <a:r>
              <a:rPr lang="en-GB" dirty="0" err="1"/>
              <a:t>fs.createReadStream</a:t>
            </a:r>
            <a:r>
              <a:rPr lang="en-GB" dirty="0"/>
              <a:t>('largefile.txt');</a:t>
            </a:r>
          </a:p>
          <a:p>
            <a:pPr marL="0" indent="0">
              <a:buNone/>
            </a:pPr>
            <a:r>
              <a:rPr lang="en-GB" dirty="0" err="1"/>
              <a:t>readStream.on</a:t>
            </a:r>
            <a:r>
              <a:rPr lang="en-GB" dirty="0"/>
              <a:t>('data', (chunk) =&gt; {  //process data as it comes //not blocking IO</a:t>
            </a:r>
          </a:p>
          <a:p>
            <a:pPr marL="0" indent="0">
              <a:buNone/>
            </a:pPr>
            <a:r>
              <a:rPr lang="en-GB" dirty="0"/>
              <a:t>  console.log("Received chunk:", </a:t>
            </a:r>
            <a:r>
              <a:rPr lang="en-GB" dirty="0" err="1"/>
              <a:t>chunk.toString</a:t>
            </a:r>
            <a:r>
              <a:rPr lang="en-GB" dirty="0"/>
              <a:t>()); </a:t>
            </a:r>
          </a:p>
          <a:p>
            <a:pPr marL="0" indent="0">
              <a:buNone/>
            </a:pPr>
            <a:r>
              <a:rPr lang="en-GB" dirty="0"/>
              <a:t>});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575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0599-4B46-568D-0018-BD050991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0EB6-3871-CCCF-DCC7-21B346D3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Node.js uses an event‑driven architecture — it waits for things (events) to happen and then responds to them.</a:t>
            </a:r>
          </a:p>
          <a:p>
            <a:r>
              <a:rPr lang="en-GB" dirty="0"/>
              <a:t>This is one of the reasons Node.js is fast and scalable — it doesn’t block while waiting for tasks to finish.</a:t>
            </a:r>
          </a:p>
          <a:p>
            <a:r>
              <a:rPr lang="en-GB" dirty="0"/>
              <a:t>Node.js has a built‑in </a:t>
            </a:r>
            <a:r>
              <a:rPr lang="en-GB" dirty="0" err="1"/>
              <a:t>EventEmitter</a:t>
            </a:r>
            <a:r>
              <a:rPr lang="en-GB" dirty="0"/>
              <a:t> class (we can emit an event and listen to it)</a:t>
            </a:r>
          </a:p>
          <a:p>
            <a:r>
              <a:rPr lang="en-GB" dirty="0"/>
              <a:t>Events let Node.js handle tasks asynchronously, making programs faster, non-blocking and capable of managing many operations at once.</a:t>
            </a:r>
          </a:p>
          <a:p>
            <a:r>
              <a:rPr lang="en-GB" dirty="0"/>
              <a:t>Why Events? Events are used to handle actions that occur asynchronously or unexpectedly, whereas if and for loops are used for predefined, synchronous control flow.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111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9F997-58F6-4C7A-90A2-0207FE9E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Node.JS – Event Callbacks and Threaded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F1951-1202-A825-B738-E78D91164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thread is a small execution unit inside a program.</a:t>
            </a:r>
            <a:endParaRPr lang="en-IN" dirty="0"/>
          </a:p>
          <a:p>
            <a:r>
              <a:rPr lang="en-IN" dirty="0" err="1"/>
              <a:t>Node.Js</a:t>
            </a:r>
            <a:r>
              <a:rPr lang="en-IN" dirty="0"/>
              <a:t> runs on single threaded event driven model – doesn't involve the concept of multi threaded model.</a:t>
            </a:r>
          </a:p>
          <a:p>
            <a:r>
              <a:rPr lang="en-IN" dirty="0"/>
              <a:t>Below figure is how two requests are processed on individual threads using the threaded model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D2381-C3A7-2C54-78FA-43C9DE4F4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839" y="3987476"/>
            <a:ext cx="5973009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28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B9E95-DE67-C290-7863-4F9E31436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Node.JS – Event Callbacks and Threaded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22A05-41BF-D170-904C-2FADA0934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Instead of focusing on individual threads, work is added to an event queue</a:t>
            </a:r>
          </a:p>
          <a:p>
            <a:r>
              <a:rPr lang="en-IN" dirty="0"/>
              <a:t>Then the event queue is picked up by a single thread running a event loop</a:t>
            </a:r>
          </a:p>
          <a:p>
            <a:r>
              <a:rPr lang="en-IN" dirty="0"/>
              <a:t>Event loop executes the top item of the event queue (functions and callbacks are included in the event queue) </a:t>
            </a:r>
          </a:p>
          <a:p>
            <a:r>
              <a:rPr lang="en-IN" dirty="0"/>
              <a:t>Event loop terminates after all the Node.js queue events are executed</a:t>
            </a:r>
          </a:p>
          <a:p>
            <a:r>
              <a:rPr lang="en-GB" dirty="0"/>
              <a:t>Node.js does not process requests one after another; it switches between them using events and callbacks.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7792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2DBA-862D-ED61-DD63-58D5D543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76D0A3-7937-9206-0457-1AFA3F757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9759" y="3068590"/>
            <a:ext cx="7005473" cy="35599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FFD15F-5E66-5435-E518-7302AD69BB63}"/>
              </a:ext>
            </a:extLst>
          </p:cNvPr>
          <p:cNvSpPr txBox="1"/>
          <p:nvPr/>
        </p:nvSpPr>
        <p:spPr>
          <a:xfrm>
            <a:off x="2900756" y="145589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Request 1 - I/O task - waiting (background)</a:t>
            </a:r>
          </a:p>
          <a:p>
            <a:r>
              <a:rPr lang="en-IN" dirty="0"/>
              <a:t>              |</a:t>
            </a:r>
          </a:p>
          <a:p>
            <a:r>
              <a:rPr lang="en-IN" dirty="0"/>
              <a:t>Request 2 - processed immediately - response sent</a:t>
            </a:r>
          </a:p>
          <a:p>
            <a:r>
              <a:rPr lang="en-IN" dirty="0"/>
              <a:t>              |</a:t>
            </a:r>
          </a:p>
          <a:p>
            <a:r>
              <a:rPr lang="en-IN" dirty="0"/>
              <a:t>Request 1 callback executes - response sent</a:t>
            </a:r>
          </a:p>
        </p:txBody>
      </p:sp>
    </p:spTree>
    <p:extLst>
      <p:ext uri="{BB962C8B-B14F-4D97-AF65-F5344CB8AC3E}">
        <p14:creationId xmlns:p14="http://schemas.microsoft.com/office/powerpoint/2010/main" val="3600085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6589-32A2-6EBB-27D3-C10C3572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All non-blocking I/O in Node.js is asynchronous, but not all asynchronous operations are non-blocking I/O</a:t>
            </a:r>
            <a:endParaRPr lang="en-IN" dirty="0"/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78ED8B4D-81EA-CDD7-DFD6-D6FBF8816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0070" y="2303921"/>
            <a:ext cx="4182059" cy="27721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035512-AE9C-42A5-2C73-D709AAB08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389" y="2537316"/>
            <a:ext cx="4029637" cy="23053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A893B0-2A95-10D8-7288-C87B1BD1B2DE}"/>
              </a:ext>
            </a:extLst>
          </p:cNvPr>
          <p:cNvSpPr txBox="1"/>
          <p:nvPr/>
        </p:nvSpPr>
        <p:spPr>
          <a:xfrm>
            <a:off x="1243584" y="5340096"/>
            <a:ext cx="7744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Examples of Non Blocking IO can be Reading a file, Querying a DB, Socket request, Accessing a remote service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Callbacks are placed in the thread pool instead of main event loop thread</a:t>
            </a:r>
          </a:p>
        </p:txBody>
      </p:sp>
    </p:spTree>
    <p:extLst>
      <p:ext uri="{BB962C8B-B14F-4D97-AF65-F5344CB8AC3E}">
        <p14:creationId xmlns:p14="http://schemas.microsoft.com/office/powerpoint/2010/main" val="505850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68D3-4040-A0B1-0091-8069F99F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Node.Js</a:t>
            </a:r>
            <a:r>
              <a:rPr lang="en-IN" dirty="0"/>
              <a:t> event model – with event queue, event loop and pool </a:t>
            </a:r>
            <a:r>
              <a:rPr lang="en-IN" dirty="0" err="1"/>
              <a:t>thead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450FC-E28F-AB11-938F-51418DDC7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3993629" y="1200899"/>
            <a:ext cx="4204740" cy="604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37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A8CD-8611-DB58-2F3C-D1EEC72A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1E3C8-AB85-7304-0566-7127B0B60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Event: </a:t>
            </a:r>
            <a:r>
              <a:rPr lang="en-GB" dirty="0" err="1"/>
              <a:t>paymentSuccess</a:t>
            </a:r>
            <a:r>
              <a:rPr lang="en-GB" dirty="0"/>
              <a:t> - triggered when payment is successful.</a:t>
            </a:r>
          </a:p>
          <a:p>
            <a:r>
              <a:rPr lang="en-GB" dirty="0"/>
              <a:t>Listener: Handles tasks after payment succeeds (e.g., sending receipt, updating database).</a:t>
            </a:r>
          </a:p>
          <a:p>
            <a:endParaRPr lang="en-GB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15BD4-3C3A-AF2C-03B0-B3CB38B8E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746" y="3304959"/>
            <a:ext cx="5077179" cy="3092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FC91B7-06A2-FB43-0419-6D32E999DF70}"/>
              </a:ext>
            </a:extLst>
          </p:cNvPr>
          <p:cNvSpPr txBox="1"/>
          <p:nvPr/>
        </p:nvSpPr>
        <p:spPr>
          <a:xfrm>
            <a:off x="6810375" y="3971925"/>
            <a:ext cx="4543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'</a:t>
            </a:r>
            <a:r>
              <a:rPr lang="en-GB" dirty="0" err="1"/>
              <a:t>paymentSuccess</a:t>
            </a:r>
            <a:r>
              <a:rPr lang="en-GB" dirty="0"/>
              <a:t>' is a custom event.</a:t>
            </a:r>
          </a:p>
          <a:p>
            <a:r>
              <a:rPr lang="en-GB" dirty="0"/>
              <a:t>on() defines the listener.</a:t>
            </a:r>
          </a:p>
          <a:p>
            <a:r>
              <a:rPr lang="en-GB" dirty="0"/>
              <a:t>emit() triggers the event.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2790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CD46A-C877-88DD-6D7F-72D291C34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FDBC1-FE8F-EDD7-9349-5DE8623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Node.js provides timer functions to schedule code to run later or repeatedly.</a:t>
            </a:r>
          </a:p>
          <a:p>
            <a:r>
              <a:rPr lang="en-GB" dirty="0"/>
              <a:t>Timer function can delay the execution of code for a period of time</a:t>
            </a:r>
          </a:p>
          <a:p>
            <a:r>
              <a:rPr lang="en-GB" dirty="0"/>
              <a:t>Common timers: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setTimeout</a:t>
            </a:r>
            <a:r>
              <a:rPr lang="en-GB" dirty="0"/>
              <a:t>() → Run once after delay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setInterval</a:t>
            </a:r>
            <a:r>
              <a:rPr lang="en-GB" dirty="0"/>
              <a:t>() → Run repeatedly every interval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setImmediate</a:t>
            </a:r>
            <a:r>
              <a:rPr lang="en-GB" dirty="0"/>
              <a:t>() → Run after the current event loop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process.next</a:t>
            </a:r>
            <a:r>
              <a:rPr lang="en-GB" b="1" dirty="0" err="1"/>
              <a:t>Tick</a:t>
            </a:r>
            <a:r>
              <a:rPr lang="en-GB" dirty="0"/>
              <a:t>() → Run before next event loop (one event cycle) – high priority request can be executed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AA4F59-721D-3E10-0142-0A1189B35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0" y="3109868"/>
            <a:ext cx="4572638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14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6FB736-24DE-F120-FCCE-ACBA4B10F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06" y="409153"/>
            <a:ext cx="5820587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244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0AAED-5499-8732-6428-EEA8BE8F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Listeners, Emitters And Removing Listeners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2FA1C-DB82-6CF4-55E0-DDF830D72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Event Emitter is a Node.js class used to create and handle custom events</a:t>
            </a:r>
          </a:p>
          <a:p>
            <a:pPr marL="0" indent="0">
              <a:buNone/>
            </a:pP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EventEmitter</a:t>
            </a:r>
            <a:r>
              <a:rPr lang="en-GB" dirty="0"/>
              <a:t> = require('events');</a:t>
            </a:r>
          </a:p>
          <a:p>
            <a:pPr marL="0" indent="0">
              <a:buNone/>
            </a:pPr>
            <a:r>
              <a:rPr lang="en-GB" dirty="0" err="1"/>
              <a:t>const</a:t>
            </a:r>
            <a:r>
              <a:rPr lang="en-GB" dirty="0"/>
              <a:t> emitter = new </a:t>
            </a:r>
            <a:r>
              <a:rPr lang="en-GB" dirty="0" err="1"/>
              <a:t>EventEmitter</a:t>
            </a:r>
            <a:r>
              <a:rPr lang="en-GB" dirty="0"/>
              <a:t>();</a:t>
            </a:r>
          </a:p>
          <a:p>
            <a:r>
              <a:rPr lang="en-GB" dirty="0"/>
              <a:t>An event listener is a function that executes when a specific event is emitted.</a:t>
            </a:r>
          </a:p>
          <a:p>
            <a:pPr marL="0" indent="0">
              <a:buNone/>
            </a:pPr>
            <a:r>
              <a:rPr lang="en-GB" dirty="0" err="1"/>
              <a:t>emitter.on</a:t>
            </a:r>
            <a:r>
              <a:rPr lang="en-GB" dirty="0"/>
              <a:t>('</a:t>
            </a:r>
            <a:r>
              <a:rPr lang="en-GB" dirty="0" err="1"/>
              <a:t>paymentSuccess</a:t>
            </a:r>
            <a:r>
              <a:rPr lang="en-GB" dirty="0"/>
              <a:t>', () =&gt; {</a:t>
            </a:r>
          </a:p>
          <a:p>
            <a:pPr marL="0" indent="0">
              <a:buNone/>
            </a:pPr>
            <a:r>
              <a:rPr lang="en-GB" dirty="0"/>
              <a:t>  console.log('Payment successful. Sending receipt.');</a:t>
            </a:r>
          </a:p>
          <a:p>
            <a:pPr marL="0" indent="0">
              <a:buNone/>
            </a:pPr>
            <a:r>
              <a:rPr lang="en-GB" dirty="0"/>
              <a:t>});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51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C4F1A-2C6F-7E75-EC36-40CAAF58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Listeners, Emitters And Removing Listeners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1F19A-B368-CCFB-51CD-E5201A812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Emitting an event means notifying all listeners that the event has occurred.</a:t>
            </a:r>
          </a:p>
          <a:p>
            <a:pPr marL="0" indent="0">
              <a:buNone/>
            </a:pPr>
            <a:r>
              <a:rPr lang="en-GB" dirty="0" err="1"/>
              <a:t>emitter.emit</a:t>
            </a:r>
            <a:r>
              <a:rPr lang="en-GB" dirty="0"/>
              <a:t>('</a:t>
            </a:r>
            <a:r>
              <a:rPr lang="en-GB" dirty="0" err="1"/>
              <a:t>paymentSuccess</a:t>
            </a:r>
            <a:r>
              <a:rPr lang="en-GB" dirty="0"/>
              <a:t>’);</a:t>
            </a:r>
          </a:p>
          <a:p>
            <a:r>
              <a:rPr lang="en-GB" dirty="0"/>
              <a:t>Removing listeners prevents a function from responding to future events.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RemoveListener</a:t>
            </a:r>
            <a:r>
              <a:rPr lang="en-GB" dirty="0"/>
              <a:t>()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Once() – auto removal after single execution</a:t>
            </a:r>
          </a:p>
          <a:p>
            <a:pPr marL="0" indent="0">
              <a:buNone/>
            </a:pPr>
            <a:r>
              <a:rPr lang="en-GB" dirty="0" err="1"/>
              <a:t>emitter.once</a:t>
            </a:r>
            <a:r>
              <a:rPr lang="en-GB" dirty="0"/>
              <a:t>('login', () =&gt; {</a:t>
            </a:r>
          </a:p>
          <a:p>
            <a:pPr marL="0" indent="0">
              <a:buNone/>
            </a:pPr>
            <a:r>
              <a:rPr lang="en-GB" dirty="0"/>
              <a:t>  console.log('First login detected');</a:t>
            </a:r>
          </a:p>
          <a:p>
            <a:pPr marL="0" indent="0">
              <a:buNone/>
            </a:pPr>
            <a:r>
              <a:rPr lang="en-GB" dirty="0"/>
              <a:t>});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8582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1616</Words>
  <Application>Microsoft Office PowerPoint</Application>
  <PresentationFormat>Widescreen</PresentationFormat>
  <Paragraphs>151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Office Theme</vt:lpstr>
      <vt:lpstr>CS23403 – FULL STACK TECHNOLOGIES</vt:lpstr>
      <vt:lpstr>Working with Node Packages</vt:lpstr>
      <vt:lpstr>NPM – Command Lines</vt:lpstr>
      <vt:lpstr>NPM – Command Lines</vt:lpstr>
      <vt:lpstr>Using Package.JSON</vt:lpstr>
      <vt:lpstr>Creating a Node.JS Application</vt:lpstr>
      <vt:lpstr>Steps to create and use a Node.JS Packaged Module</vt:lpstr>
      <vt:lpstr>Steps to create and use a Node.JS Packaged Module</vt:lpstr>
      <vt:lpstr>Steps to create and use a Node.JS Packaged Module</vt:lpstr>
      <vt:lpstr>Steps to create and use a Node.JS Packaged Module</vt:lpstr>
      <vt:lpstr>Package . JSON &amp; Node_ Modules</vt:lpstr>
      <vt:lpstr>Working with Node Packages</vt:lpstr>
      <vt:lpstr>Filesystems – Buffer - Streams</vt:lpstr>
      <vt:lpstr>Filesystems – Buffer - Streams</vt:lpstr>
      <vt:lpstr>Filesystems – Buffer - Streams</vt:lpstr>
      <vt:lpstr>Using Events</vt:lpstr>
      <vt:lpstr>Node.JS – Event Callbacks and Threaded Model</vt:lpstr>
      <vt:lpstr>Node.JS – Event Callbacks and Threaded Model</vt:lpstr>
      <vt:lpstr>Event Loop</vt:lpstr>
      <vt:lpstr>All non-blocking I/O in Node.js is asynchronous, but not all asynchronous operations are non-blocking I/O</vt:lpstr>
      <vt:lpstr>Node.Js event model – with event queue, event loop and pool thead</vt:lpstr>
      <vt:lpstr>Listeners</vt:lpstr>
      <vt:lpstr>Timers</vt:lpstr>
      <vt:lpstr>PowerPoint Presentation</vt:lpstr>
      <vt:lpstr>Event Listeners, Emitters And Removing Listeners</vt:lpstr>
      <vt:lpstr>Event Listeners, Emitters And Removing Listeners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Krishnan Chandra</dc:creator>
  <cp:lastModifiedBy>Krishnan Chandra</cp:lastModifiedBy>
  <cp:revision>52</cp:revision>
  <dcterms:created xsi:type="dcterms:W3CDTF">2026-01-16T05:37:27Z</dcterms:created>
  <dcterms:modified xsi:type="dcterms:W3CDTF">2026-01-20T02:22:35Z</dcterms:modified>
</cp:coreProperties>
</file>